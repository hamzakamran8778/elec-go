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20.jpg" ContentType="image/jpg"/>
  <Override PartName="/ppt/notesSlides/notesSlide8.xml" ContentType="application/vnd.openxmlformats-officedocument.presentationml.notesSlide+xml"/>
  <Override PartName="/ppt/media/image22.jpg" ContentType="image/jpg"/>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0"/>
  </p:notesMasterIdLst>
  <p:handoutMasterIdLst>
    <p:handoutMasterId r:id="rId21"/>
  </p:handoutMasterIdLst>
  <p:sldIdLst>
    <p:sldId id="312" r:id="rId5"/>
    <p:sldId id="314" r:id="rId6"/>
    <p:sldId id="329" r:id="rId7"/>
    <p:sldId id="324" r:id="rId8"/>
    <p:sldId id="325" r:id="rId9"/>
    <p:sldId id="326" r:id="rId10"/>
    <p:sldId id="328" r:id="rId11"/>
    <p:sldId id="307" r:id="rId12"/>
    <p:sldId id="281" r:id="rId13"/>
    <p:sldId id="282" r:id="rId14"/>
    <p:sldId id="315" r:id="rId15"/>
    <p:sldId id="317" r:id="rId16"/>
    <p:sldId id="327" r:id="rId17"/>
    <p:sldId id="322" r:id="rId18"/>
    <p:sldId id="297" r:id="rId1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Ghouse" userId="11bf175091c19b70" providerId="LiveId" clId="{1BD24D15-7A80-4B4F-8359-4385856FFC7E}"/>
    <pc:docChg chg="modSld">
      <pc:chgData name="Mohammed Ghouse" userId="11bf175091c19b70" providerId="LiveId" clId="{1BD24D15-7A80-4B4F-8359-4385856FFC7E}" dt="2025-02-20T08:53:00.652" v="28"/>
      <pc:docMkLst>
        <pc:docMk/>
      </pc:docMkLst>
      <pc:sldChg chg="modSp mod">
        <pc:chgData name="Mohammed Ghouse" userId="11bf175091c19b70" providerId="LiveId" clId="{1BD24D15-7A80-4B4F-8359-4385856FFC7E}" dt="2025-02-20T08:53:00.652" v="28"/>
        <pc:sldMkLst>
          <pc:docMk/>
          <pc:sldMk cId="2202437675" sldId="312"/>
        </pc:sldMkLst>
        <pc:spChg chg="mod">
          <ac:chgData name="Mohammed Ghouse" userId="11bf175091c19b70" providerId="LiveId" clId="{1BD24D15-7A80-4B4F-8359-4385856FFC7E}" dt="2025-02-20T08:53:00.652" v="28"/>
          <ac:spMkLst>
            <pc:docMk/>
            <pc:sldMk cId="2202437675" sldId="312"/>
            <ac:spMk id="2" creationId="{4207FF65-A536-F639-8591-ED024C223308}"/>
          </ac:spMkLst>
        </pc:spChg>
      </pc:sldChg>
      <pc:sldChg chg="modSp mod">
        <pc:chgData name="Mohammed Ghouse" userId="11bf175091c19b70" providerId="LiveId" clId="{1BD24D15-7A80-4B4F-8359-4385856FFC7E}" dt="2025-02-20T08:51:03.922" v="1" actId="1076"/>
        <pc:sldMkLst>
          <pc:docMk/>
          <pc:sldMk cId="1697028350" sldId="326"/>
        </pc:sldMkLst>
        <pc:picChg chg="mod">
          <ac:chgData name="Mohammed Ghouse" userId="11bf175091c19b70" providerId="LiveId" clId="{1BD24D15-7A80-4B4F-8359-4385856FFC7E}" dt="2025-02-20T08:51:03.922" v="1" actId="1076"/>
          <ac:picMkLst>
            <pc:docMk/>
            <pc:sldMk cId="1697028350" sldId="326"/>
            <ac:picMk id="7" creationId="{5906CCD8-90A7-7119-7F9C-F4A6A16419E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970648"/>
            <a:ext cx="6392421" cy="3831221"/>
          </a:xfrm>
        </p:spPr>
        <p:txBody>
          <a:bodyPr anchor="ctr"/>
          <a:lstStyle/>
          <a:p>
            <a:r>
              <a:rPr lang="en-IN" sz="4000" dirty="0"/>
              <a:t>Elec-Go</a:t>
            </a:r>
            <a:br>
              <a:rPr lang="en-IN" sz="4000" dirty="0"/>
            </a:br>
            <a:br>
              <a:rPr lang="en-IN" sz="4000" dirty="0"/>
            </a:br>
            <a:r>
              <a:rPr lang="en-US" sz="2000" dirty="0"/>
              <a:t>Elec-go means wherever you go electricity is generated</a:t>
            </a:r>
            <a:endParaRPr lang="en-US" sz="4000" dirty="0"/>
          </a:p>
        </p:txBody>
      </p:sp>
      <p:sp>
        <p:nvSpPr>
          <p:cNvPr id="3" name="TextBox 2">
            <a:extLst>
              <a:ext uri="{FF2B5EF4-FFF2-40B4-BE49-F238E27FC236}">
                <a16:creationId xmlns:a16="http://schemas.microsoft.com/office/drawing/2014/main" id="{F926766A-24C5-3EAE-AD98-C7873D3B4FFE}"/>
              </a:ext>
            </a:extLst>
          </p:cNvPr>
          <p:cNvSpPr txBox="1"/>
          <p:nvPr/>
        </p:nvSpPr>
        <p:spPr>
          <a:xfrm>
            <a:off x="1563330" y="4801869"/>
            <a:ext cx="5540477" cy="1384995"/>
          </a:xfrm>
          <a:prstGeom prst="rect">
            <a:avLst/>
          </a:prstGeom>
          <a:noFill/>
        </p:spPr>
        <p:txBody>
          <a:bodyPr wrap="square" rtlCol="0">
            <a:spAutoFit/>
          </a:bodyPr>
          <a:lstStyle/>
          <a:p>
            <a:r>
              <a:rPr lang="en-US" sz="2800" b="1" u="sng" dirty="0">
                <a:solidFill>
                  <a:schemeClr val="accent1">
                    <a:lumMod val="75000"/>
                  </a:schemeClr>
                </a:solidFill>
              </a:rPr>
              <a:t>Founders</a:t>
            </a:r>
            <a:r>
              <a:rPr lang="en-US" sz="2800" b="1" dirty="0">
                <a:solidFill>
                  <a:schemeClr val="accent1">
                    <a:lumMod val="75000"/>
                  </a:schemeClr>
                </a:solidFill>
              </a:rPr>
              <a:t> :</a:t>
            </a:r>
          </a:p>
          <a:p>
            <a:r>
              <a:rPr lang="en-US" sz="2800" i="1" dirty="0">
                <a:solidFill>
                  <a:schemeClr val="accent1">
                    <a:lumMod val="75000"/>
                  </a:schemeClr>
                </a:solidFill>
              </a:rPr>
              <a:t>Mohammed Hamza</a:t>
            </a:r>
          </a:p>
          <a:p>
            <a:r>
              <a:rPr lang="en-US" sz="2800" i="1" dirty="0">
                <a:solidFill>
                  <a:schemeClr val="accent1">
                    <a:lumMod val="75000"/>
                  </a:schemeClr>
                </a:solidFill>
              </a:rPr>
              <a:t>Mohammed Ghouse</a:t>
            </a:r>
            <a:endParaRPr lang="en-IN" sz="2800" i="1" dirty="0">
              <a:solidFill>
                <a:schemeClr val="accent1">
                  <a:lumMod val="75000"/>
                </a:schemeClr>
              </a:solidFill>
            </a:endParaRPr>
          </a:p>
        </p:txBody>
      </p:sp>
      <p:sp>
        <p:nvSpPr>
          <p:cNvPr id="5" name="TextBox 4">
            <a:extLst>
              <a:ext uri="{FF2B5EF4-FFF2-40B4-BE49-F238E27FC236}">
                <a16:creationId xmlns:a16="http://schemas.microsoft.com/office/drawing/2014/main" id="{F33CAF5B-6473-025C-7A80-3044819E7921}"/>
              </a:ext>
            </a:extLst>
          </p:cNvPr>
          <p:cNvSpPr txBox="1"/>
          <p:nvPr/>
        </p:nvSpPr>
        <p:spPr>
          <a:xfrm>
            <a:off x="4532670" y="4801869"/>
            <a:ext cx="6096000" cy="1815882"/>
          </a:xfrm>
          <a:prstGeom prst="rect">
            <a:avLst/>
          </a:prstGeom>
          <a:noFill/>
        </p:spPr>
        <p:txBody>
          <a:bodyPr wrap="square">
            <a:spAutoFit/>
          </a:bodyPr>
          <a:lstStyle/>
          <a:p>
            <a:pPr algn="r"/>
            <a:r>
              <a:rPr lang="en-US" sz="2800" b="1" u="sng" dirty="0">
                <a:solidFill>
                  <a:schemeClr val="accent1">
                    <a:lumMod val="75000"/>
                  </a:schemeClr>
                </a:solidFill>
              </a:rPr>
              <a:t>Co-Founders</a:t>
            </a:r>
            <a:r>
              <a:rPr lang="en-US" sz="2800" b="1" dirty="0">
                <a:solidFill>
                  <a:schemeClr val="accent1">
                    <a:lumMod val="75000"/>
                  </a:schemeClr>
                </a:solidFill>
              </a:rPr>
              <a:t> :</a:t>
            </a:r>
          </a:p>
          <a:p>
            <a:pPr algn="r"/>
            <a:r>
              <a:rPr lang="en-US" sz="2800" i="1" dirty="0">
                <a:solidFill>
                  <a:schemeClr val="accent1">
                    <a:lumMod val="75000"/>
                  </a:schemeClr>
                </a:solidFill>
              </a:rPr>
              <a:t>Mohd Ahsan Uddin </a:t>
            </a:r>
          </a:p>
          <a:p>
            <a:pPr algn="r"/>
            <a:r>
              <a:rPr lang="en-US" sz="2800" i="1" dirty="0" err="1">
                <a:solidFill>
                  <a:schemeClr val="accent1">
                    <a:lumMod val="75000"/>
                  </a:schemeClr>
                </a:solidFill>
              </a:rPr>
              <a:t>Mahjabeen</a:t>
            </a:r>
            <a:br>
              <a:rPr lang="en-US" sz="2800" i="1" dirty="0">
                <a:solidFill>
                  <a:schemeClr val="accent1">
                    <a:lumMod val="75000"/>
                  </a:schemeClr>
                </a:solidFill>
              </a:rPr>
            </a:br>
            <a:r>
              <a:rPr lang="en-US" sz="2800" i="1" dirty="0">
                <a:solidFill>
                  <a:schemeClr val="accent1">
                    <a:lumMod val="75000"/>
                  </a:schemeClr>
                </a:solidFill>
              </a:rPr>
              <a:t>Fathima </a:t>
            </a:r>
            <a:r>
              <a:rPr lang="en-US" sz="2800" i="1" dirty="0" err="1">
                <a:solidFill>
                  <a:schemeClr val="accent1">
                    <a:lumMod val="75000"/>
                  </a:schemeClr>
                </a:solidFill>
              </a:rPr>
              <a:t>Nooreen</a:t>
            </a:r>
            <a:endParaRPr lang="en-US" sz="2800" i="1" dirty="0">
              <a:solidFill>
                <a:schemeClr val="accent1">
                  <a:lumMod val="75000"/>
                </a:schemeClr>
              </a:solidFill>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1727033"/>
            <a:ext cx="7043618" cy="4304799"/>
          </a:xfrm>
        </p:spPr>
        <p:txBody>
          <a:bodyPr>
            <a:normAutofit/>
          </a:bodyPr>
          <a:lstStyle/>
          <a:p>
            <a:pPr algn="ctr"/>
            <a:r>
              <a:rPr lang="en-IN" sz="4400" dirty="0"/>
              <a:t>Introduction</a:t>
            </a:r>
            <a:endParaRPr lang="en-US" sz="4400" b="0" i="0" dirty="0">
              <a:solidFill>
                <a:srgbClr val="374151"/>
              </a:solidFill>
              <a:effectLst/>
              <a:latin typeface="__Inter_d65c78"/>
            </a:endParaRPr>
          </a:p>
          <a:p>
            <a:br>
              <a:rPr lang="en-US" sz="2800" b="0" i="0" dirty="0">
                <a:solidFill>
                  <a:srgbClr val="374151"/>
                </a:solidFill>
                <a:effectLst/>
                <a:latin typeface="__Inter_d65c78"/>
              </a:rPr>
            </a:br>
            <a:r>
              <a:rPr lang="en-US" sz="4000" dirty="0"/>
              <a:t>This presentation covers the concept of energy harvesting from footsteps, its significance, and applications in modern technology.</a:t>
            </a:r>
          </a:p>
        </p:txBody>
      </p:sp>
    </p:spTree>
    <p:extLst>
      <p:ext uri="{BB962C8B-B14F-4D97-AF65-F5344CB8AC3E}">
        <p14:creationId xmlns:p14="http://schemas.microsoft.com/office/powerpoint/2010/main" val="1131718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7ECA1A-D066-1E79-FB49-76E051FDCD1B}"/>
              </a:ext>
            </a:extLst>
          </p:cNvPr>
          <p:cNvSpPr>
            <a:spLocks noGrp="1"/>
          </p:cNvSpPr>
          <p:nvPr>
            <p:ph type="ctrTitle"/>
          </p:nvPr>
        </p:nvSpPr>
        <p:spPr>
          <a:xfrm>
            <a:off x="1042220" y="849783"/>
            <a:ext cx="5496231" cy="890528"/>
          </a:xfrm>
        </p:spPr>
        <p:txBody>
          <a:bodyPr/>
          <a:lstStyle/>
          <a:p>
            <a:r>
              <a:rPr lang="en-IN" sz="4000" dirty="0"/>
              <a:t>Overview</a:t>
            </a:r>
          </a:p>
        </p:txBody>
      </p:sp>
      <p:sp>
        <p:nvSpPr>
          <p:cNvPr id="10" name="Subtitle 9">
            <a:extLst>
              <a:ext uri="{FF2B5EF4-FFF2-40B4-BE49-F238E27FC236}">
                <a16:creationId xmlns:a16="http://schemas.microsoft.com/office/drawing/2014/main" id="{AEC9C6DE-C8C7-68DE-7C2C-C89223B67D6C}"/>
              </a:ext>
            </a:extLst>
          </p:cNvPr>
          <p:cNvSpPr>
            <a:spLocks noGrp="1"/>
          </p:cNvSpPr>
          <p:nvPr>
            <p:ph type="subTitle" idx="1"/>
          </p:nvPr>
        </p:nvSpPr>
        <p:spPr>
          <a:xfrm>
            <a:off x="530942" y="2311679"/>
            <a:ext cx="5715000" cy="2234642"/>
          </a:xfrm>
        </p:spPr>
        <p:txBody>
          <a:bodyPr>
            <a:normAutofit/>
          </a:bodyPr>
          <a:lstStyle/>
          <a:p>
            <a:r>
              <a:rPr lang="en-US" sz="2800" dirty="0"/>
              <a:t>In this presentation we student of AIML-b is presenting you a prototype made up of Piezoelectric plates and this device is fixed in the soul of the shoes.</a:t>
            </a:r>
            <a:endParaRPr lang="en-IN" sz="2800" dirty="0"/>
          </a:p>
        </p:txBody>
      </p:sp>
      <p:sp>
        <p:nvSpPr>
          <p:cNvPr id="3" name="Slide Number Placeholder 2">
            <a:extLst>
              <a:ext uri="{FF2B5EF4-FFF2-40B4-BE49-F238E27FC236}">
                <a16:creationId xmlns:a16="http://schemas.microsoft.com/office/drawing/2014/main" id="{08D0452F-0855-241F-1CC1-2D15DD244C48}"/>
              </a:ext>
            </a:extLst>
          </p:cNvPr>
          <p:cNvSpPr>
            <a:spLocks noGrp="1"/>
          </p:cNvSpPr>
          <p:nvPr>
            <p:ph type="sldNum" sz="quarter" idx="4294967295"/>
          </p:nvPr>
        </p:nvSpPr>
        <p:spPr>
          <a:xfrm>
            <a:off x="11125200" y="457200"/>
            <a:ext cx="1066800" cy="471488"/>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4115328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7BC01-46E5-9143-1CAD-9995A9999B1D}"/>
              </a:ext>
            </a:extLst>
          </p:cNvPr>
          <p:cNvSpPr>
            <a:spLocks noGrp="1"/>
          </p:cNvSpPr>
          <p:nvPr>
            <p:ph type="title"/>
          </p:nvPr>
        </p:nvSpPr>
        <p:spPr>
          <a:xfrm>
            <a:off x="914399" y="1057274"/>
            <a:ext cx="9914021" cy="1156537"/>
          </a:xfrm>
        </p:spPr>
        <p:txBody>
          <a:bodyPr/>
          <a:lstStyle/>
          <a:p>
            <a:r>
              <a:rPr lang="en-IN" dirty="0"/>
              <a:t>Definition of Energy Harvesting</a:t>
            </a:r>
          </a:p>
        </p:txBody>
      </p:sp>
      <p:sp>
        <p:nvSpPr>
          <p:cNvPr id="3" name="Content Placeholder 2">
            <a:extLst>
              <a:ext uri="{FF2B5EF4-FFF2-40B4-BE49-F238E27FC236}">
                <a16:creationId xmlns:a16="http://schemas.microsoft.com/office/drawing/2014/main" id="{6807C92B-D3D2-F12D-B044-500FDE849BBF}"/>
              </a:ext>
            </a:extLst>
          </p:cNvPr>
          <p:cNvSpPr>
            <a:spLocks noGrp="1"/>
          </p:cNvSpPr>
          <p:nvPr>
            <p:ph idx="1"/>
          </p:nvPr>
        </p:nvSpPr>
        <p:spPr>
          <a:xfrm>
            <a:off x="914400" y="2342398"/>
            <a:ext cx="10732168" cy="3256298"/>
          </a:xfrm>
        </p:spPr>
        <p:txBody>
          <a:bodyPr>
            <a:normAutofit/>
          </a:bodyPr>
          <a:lstStyle/>
          <a:p>
            <a:r>
              <a:rPr lang="en-US" sz="2800" dirty="0"/>
              <a:t>• </a:t>
            </a:r>
            <a:r>
              <a:rPr lang="en-US" sz="2600" dirty="0"/>
              <a:t>Energy harvesting is the process of capturing energy from external sources </a:t>
            </a:r>
          </a:p>
          <a:p>
            <a:r>
              <a:rPr lang="en-US" sz="2600" dirty="0"/>
              <a:t>• This can be achieved through various methods, including kinetic energy                 conversion from human movements, such as footsteps. </a:t>
            </a:r>
          </a:p>
          <a:p>
            <a:r>
              <a:rPr lang="en-US" sz="2600" dirty="0"/>
              <a:t>• The technology allows for self-sustaining systems that do not rely on traditional power sources.</a:t>
            </a:r>
            <a:endParaRPr lang="en-IN" sz="2600" dirty="0"/>
          </a:p>
        </p:txBody>
      </p:sp>
      <p:sp>
        <p:nvSpPr>
          <p:cNvPr id="4" name="Slide Number Placeholder 3">
            <a:extLst>
              <a:ext uri="{FF2B5EF4-FFF2-40B4-BE49-F238E27FC236}">
                <a16:creationId xmlns:a16="http://schemas.microsoft.com/office/drawing/2014/main" id="{A60BB261-0414-F9FD-2990-3B57DA88B001}"/>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3674886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FEBEB-467A-3AB5-586D-3BE803A60A5F}"/>
              </a:ext>
            </a:extLst>
          </p:cNvPr>
          <p:cNvSpPr>
            <a:spLocks noGrp="1"/>
          </p:cNvSpPr>
          <p:nvPr>
            <p:ph type="title"/>
          </p:nvPr>
        </p:nvSpPr>
        <p:spPr>
          <a:xfrm>
            <a:off x="914400" y="647765"/>
            <a:ext cx="10363201" cy="1012782"/>
          </a:xfrm>
        </p:spPr>
        <p:txBody>
          <a:bodyPr/>
          <a:lstStyle/>
          <a:p>
            <a:r>
              <a:rPr lang="en-IN" dirty="0"/>
              <a:t>Importance of Footstep Energy </a:t>
            </a:r>
          </a:p>
        </p:txBody>
      </p:sp>
      <p:sp>
        <p:nvSpPr>
          <p:cNvPr id="3" name="Content Placeholder 2">
            <a:extLst>
              <a:ext uri="{FF2B5EF4-FFF2-40B4-BE49-F238E27FC236}">
                <a16:creationId xmlns:a16="http://schemas.microsoft.com/office/drawing/2014/main" id="{C566BBFA-C52D-6388-6D28-D54499114330}"/>
              </a:ext>
            </a:extLst>
          </p:cNvPr>
          <p:cNvSpPr>
            <a:spLocks noGrp="1"/>
          </p:cNvSpPr>
          <p:nvPr>
            <p:ph idx="13"/>
          </p:nvPr>
        </p:nvSpPr>
        <p:spPr>
          <a:xfrm>
            <a:off x="914399" y="2331791"/>
            <a:ext cx="7828547" cy="3721817"/>
          </a:xfrm>
        </p:spPr>
        <p:txBody>
          <a:bodyPr>
            <a:normAutofit lnSpcReduction="10000"/>
          </a:bodyPr>
          <a:lstStyle/>
          <a:p>
            <a:r>
              <a:rPr lang="en-US" sz="2800" dirty="0"/>
              <a:t>• The energy harvested from footsteps contributes to renewable energy solutions, reducing reliance on fossil fuels. </a:t>
            </a:r>
          </a:p>
          <a:p>
            <a:r>
              <a:rPr lang="en-US" sz="2800" dirty="0"/>
              <a:t>• It can power small devices, sensors, and lighting in public spaces enhancing sustainability efforts. </a:t>
            </a:r>
          </a:p>
          <a:p>
            <a:r>
              <a:rPr lang="en-US" sz="2800" dirty="0"/>
              <a:t>• Additionally, integrating footstep energy systems in urban planning promotes eco-friendly infrastructure and raises awareness about energy consumption.</a:t>
            </a:r>
            <a:endParaRPr lang="en-IN" sz="2800" dirty="0"/>
          </a:p>
        </p:txBody>
      </p:sp>
      <p:pic>
        <p:nvPicPr>
          <p:cNvPr id="9" name="Picture Placeholder 8">
            <a:extLst>
              <a:ext uri="{FF2B5EF4-FFF2-40B4-BE49-F238E27FC236}">
                <a16:creationId xmlns:a16="http://schemas.microsoft.com/office/drawing/2014/main" id="{5A37A1DE-53D4-663B-E5BA-8CF8F4BB53DC}"/>
              </a:ext>
            </a:extLst>
          </p:cNvPr>
          <p:cNvPicPr>
            <a:picLocks noGrp="1" noChangeAspect="1"/>
          </p:cNvPicPr>
          <p:nvPr>
            <p:ph type="pic" sz="quarter" idx="14"/>
          </p:nvPr>
        </p:nvPicPr>
        <p:blipFill>
          <a:blip r:embed="rId2"/>
          <a:srcRect l="1328" r="1328"/>
          <a:stretch>
            <a:fillRect/>
          </a:stretch>
        </p:blipFill>
        <p:spPr>
          <a:xfrm>
            <a:off x="8739946" y="2871537"/>
            <a:ext cx="3452054" cy="3986463"/>
          </a:xfrm>
        </p:spPr>
      </p:pic>
      <p:sp>
        <p:nvSpPr>
          <p:cNvPr id="5" name="Slide Number Placeholder 4">
            <a:extLst>
              <a:ext uri="{FF2B5EF4-FFF2-40B4-BE49-F238E27FC236}">
                <a16:creationId xmlns:a16="http://schemas.microsoft.com/office/drawing/2014/main" id="{3455F198-A58C-FA19-1E2B-762C63F0EC62}"/>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2929146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6D0E5-F468-27BF-B4AC-06EDBFC48D2F}"/>
              </a:ext>
            </a:extLst>
          </p:cNvPr>
          <p:cNvSpPr>
            <a:spLocks noGrp="1"/>
          </p:cNvSpPr>
          <p:nvPr>
            <p:ph type="title"/>
          </p:nvPr>
        </p:nvSpPr>
        <p:spPr>
          <a:xfrm>
            <a:off x="914400" y="457199"/>
            <a:ext cx="7843837" cy="1612857"/>
          </a:xfrm>
        </p:spPr>
        <p:txBody>
          <a:bodyPr/>
          <a:lstStyle/>
          <a:p>
            <a:pPr algn="ctr"/>
            <a:r>
              <a:rPr lang="en-IN" sz="6000" kern="100" dirty="0">
                <a:solidFill>
                  <a:srgbClr val="0E2141"/>
                </a:solidFill>
                <a:effectLst/>
                <a:latin typeface="Calibri" panose="020F0502020204030204" pitchFamily="34" charset="0"/>
                <a:ea typeface="Calibri" panose="020F0502020204030204" pitchFamily="34" charset="0"/>
              </a:rPr>
              <a:t>BACK TO OUR PROJECT </a:t>
            </a:r>
            <a:br>
              <a:rPr lang="en-IN" sz="1800" kern="100" dirty="0">
                <a:solidFill>
                  <a:srgbClr val="000000"/>
                </a:solidFill>
                <a:effectLst/>
                <a:latin typeface="Calibri" panose="020F0502020204030204" pitchFamily="34" charset="0"/>
                <a:ea typeface="Calibri" panose="020F0502020204030204" pitchFamily="34" charset="0"/>
              </a:rPr>
            </a:br>
            <a:endParaRPr lang="en-IN" b="0" dirty="0"/>
          </a:p>
        </p:txBody>
      </p:sp>
      <p:pic>
        <p:nvPicPr>
          <p:cNvPr id="7" name="Content Placeholder 6">
            <a:extLst>
              <a:ext uri="{FF2B5EF4-FFF2-40B4-BE49-F238E27FC236}">
                <a16:creationId xmlns:a16="http://schemas.microsoft.com/office/drawing/2014/main" id="{5906CCD8-90A7-7119-7F9C-F4A6A16419ED}"/>
              </a:ext>
            </a:extLst>
          </p:cNvPr>
          <p:cNvPicPr>
            <a:picLocks noGrp="1" noChangeAspect="1"/>
          </p:cNvPicPr>
          <p:nvPr>
            <p:ph idx="13"/>
          </p:nvPr>
        </p:nvPicPr>
        <p:blipFill>
          <a:blip r:embed="rId2"/>
          <a:stretch>
            <a:fillRect/>
          </a:stretch>
        </p:blipFill>
        <p:spPr>
          <a:xfrm>
            <a:off x="1283269" y="1963397"/>
            <a:ext cx="6575597" cy="3473841"/>
          </a:xfrm>
        </p:spPr>
      </p:pic>
      <p:sp>
        <p:nvSpPr>
          <p:cNvPr id="5" name="Slide Number Placeholder 4">
            <a:extLst>
              <a:ext uri="{FF2B5EF4-FFF2-40B4-BE49-F238E27FC236}">
                <a16:creationId xmlns:a16="http://schemas.microsoft.com/office/drawing/2014/main" id="{A35B09F5-A373-52CF-2348-8F6A088A2A3A}"/>
              </a:ext>
            </a:extLst>
          </p:cNvPr>
          <p:cNvSpPr>
            <a:spLocks noGrp="1"/>
          </p:cNvSpPr>
          <p:nvPr>
            <p:ph type="sldNum" sz="quarter" idx="10"/>
          </p:nvPr>
        </p:nvSpPr>
        <p:spPr/>
        <p:txBody>
          <a:bodyPr/>
          <a:lstStyle/>
          <a:p>
            <a:fld id="{48F63A3B-78C7-47BE-AE5E-E10140E04643}" type="slidenum">
              <a:rPr lang="en-US" smtClean="0"/>
              <a:pPr/>
              <a:t>6</a:t>
            </a:fld>
            <a:endParaRPr lang="en-US" dirty="0"/>
          </a:p>
        </p:txBody>
      </p:sp>
      <p:pic>
        <p:nvPicPr>
          <p:cNvPr id="8" name="Picture 7">
            <a:extLst>
              <a:ext uri="{FF2B5EF4-FFF2-40B4-BE49-F238E27FC236}">
                <a16:creationId xmlns:a16="http://schemas.microsoft.com/office/drawing/2014/main" id="{4C186EFA-8FAE-627C-89A4-EAEC99A88A89}"/>
              </a:ext>
            </a:extLst>
          </p:cNvPr>
          <p:cNvPicPr>
            <a:picLocks noChangeAspect="1"/>
          </p:cNvPicPr>
          <p:nvPr/>
        </p:nvPicPr>
        <p:blipFill>
          <a:blip r:embed="rId3"/>
          <a:srcRect t="20538"/>
          <a:stretch/>
        </p:blipFill>
        <p:spPr>
          <a:xfrm>
            <a:off x="8849032" y="3459425"/>
            <a:ext cx="3306324" cy="3328089"/>
          </a:xfrm>
          <a:prstGeom prst="rect">
            <a:avLst/>
          </a:prstGeom>
        </p:spPr>
      </p:pic>
    </p:spTree>
    <p:extLst>
      <p:ext uri="{BB962C8B-B14F-4D97-AF65-F5344CB8AC3E}">
        <p14:creationId xmlns:p14="http://schemas.microsoft.com/office/powerpoint/2010/main" val="1697028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ACD5F98-109D-0BA0-7C49-84DA0E5F9AF2}"/>
              </a:ext>
            </a:extLst>
          </p:cNvPr>
          <p:cNvSpPr>
            <a:spLocks noGrp="1"/>
          </p:cNvSpPr>
          <p:nvPr>
            <p:ph type="sldNum" sz="quarter" idx="10"/>
          </p:nvPr>
        </p:nvSpPr>
        <p:spPr/>
        <p:txBody>
          <a:bodyPr/>
          <a:lstStyle/>
          <a:p>
            <a:fld id="{48F63A3B-78C7-47BE-AE5E-E10140E04643}" type="slidenum">
              <a:rPr lang="en-US" smtClean="0"/>
              <a:pPr/>
              <a:t>7</a:t>
            </a:fld>
            <a:endParaRPr lang="en-US" dirty="0"/>
          </a:p>
        </p:txBody>
      </p:sp>
      <p:grpSp>
        <p:nvGrpSpPr>
          <p:cNvPr id="6" name="Group 5">
            <a:extLst>
              <a:ext uri="{FF2B5EF4-FFF2-40B4-BE49-F238E27FC236}">
                <a16:creationId xmlns:a16="http://schemas.microsoft.com/office/drawing/2014/main" id="{986ACD76-6074-CAB7-E57C-CCA52E239E9E}"/>
              </a:ext>
            </a:extLst>
          </p:cNvPr>
          <p:cNvGrpSpPr/>
          <p:nvPr/>
        </p:nvGrpSpPr>
        <p:grpSpPr>
          <a:xfrm>
            <a:off x="117988" y="92592"/>
            <a:ext cx="12361369" cy="6858000"/>
            <a:chOff x="0" y="0"/>
            <a:chExt cx="8313878" cy="4235463"/>
          </a:xfrm>
        </p:grpSpPr>
        <p:sp>
          <p:nvSpPr>
            <p:cNvPr id="7" name="Shape 3532">
              <a:extLst>
                <a:ext uri="{FF2B5EF4-FFF2-40B4-BE49-F238E27FC236}">
                  <a16:creationId xmlns:a16="http://schemas.microsoft.com/office/drawing/2014/main" id="{536BA895-5923-2DEB-DF53-54F936B758D5}"/>
                </a:ext>
              </a:extLst>
            </p:cNvPr>
            <p:cNvSpPr/>
            <p:nvPr/>
          </p:nvSpPr>
          <p:spPr>
            <a:xfrm>
              <a:off x="8123797" y="0"/>
              <a:ext cx="190081" cy="2549525"/>
            </a:xfrm>
            <a:custGeom>
              <a:avLst/>
              <a:gdLst/>
              <a:ahLst/>
              <a:cxnLst/>
              <a:rect l="0" t="0" r="0" b="0"/>
              <a:pathLst>
                <a:path w="190081" h="2549525">
                  <a:moveTo>
                    <a:pt x="0" y="0"/>
                  </a:moveTo>
                  <a:lnTo>
                    <a:pt x="190081" y="0"/>
                  </a:lnTo>
                  <a:lnTo>
                    <a:pt x="190081" y="2549525"/>
                  </a:lnTo>
                  <a:lnTo>
                    <a:pt x="0" y="2549525"/>
                  </a:lnTo>
                  <a:lnTo>
                    <a:pt x="0" y="0"/>
                  </a:lnTo>
                </a:path>
              </a:pathLst>
            </a:custGeom>
            <a:ln w="0" cap="flat">
              <a:miter lim="127000"/>
            </a:ln>
          </p:spPr>
          <p:style>
            <a:lnRef idx="0">
              <a:srgbClr val="000000">
                <a:alpha val="0"/>
              </a:srgbClr>
            </a:lnRef>
            <a:fillRef idx="1">
              <a:srgbClr val="0E2141"/>
            </a:fillRef>
            <a:effectRef idx="0">
              <a:scrgbClr r="0" g="0" b="0"/>
            </a:effectRef>
            <a:fontRef idx="none"/>
          </p:style>
          <p:txBody>
            <a:bodyPr/>
            <a:lstStyle/>
            <a:p>
              <a:endParaRPr lang="en-IN"/>
            </a:p>
          </p:txBody>
        </p:sp>
        <p:sp>
          <p:nvSpPr>
            <p:cNvPr id="8" name="Shape 3533">
              <a:extLst>
                <a:ext uri="{FF2B5EF4-FFF2-40B4-BE49-F238E27FC236}">
                  <a16:creationId xmlns:a16="http://schemas.microsoft.com/office/drawing/2014/main" id="{71FD77B7-645A-3E6F-F2CF-6957BC21A2F2}"/>
                </a:ext>
              </a:extLst>
            </p:cNvPr>
            <p:cNvSpPr/>
            <p:nvPr/>
          </p:nvSpPr>
          <p:spPr>
            <a:xfrm>
              <a:off x="8123797" y="3491344"/>
              <a:ext cx="190081" cy="744119"/>
            </a:xfrm>
            <a:custGeom>
              <a:avLst/>
              <a:gdLst/>
              <a:ahLst/>
              <a:cxnLst/>
              <a:rect l="0" t="0" r="0" b="0"/>
              <a:pathLst>
                <a:path w="190081" h="744119">
                  <a:moveTo>
                    <a:pt x="0" y="0"/>
                  </a:moveTo>
                  <a:lnTo>
                    <a:pt x="190081" y="0"/>
                  </a:lnTo>
                  <a:lnTo>
                    <a:pt x="190081" y="744119"/>
                  </a:lnTo>
                  <a:lnTo>
                    <a:pt x="0" y="744119"/>
                  </a:lnTo>
                  <a:lnTo>
                    <a:pt x="0" y="0"/>
                  </a:lnTo>
                </a:path>
              </a:pathLst>
            </a:custGeom>
            <a:ln w="0" cap="flat">
              <a:miter lim="127000"/>
            </a:ln>
          </p:spPr>
          <p:style>
            <a:lnRef idx="0">
              <a:srgbClr val="000000">
                <a:alpha val="0"/>
              </a:srgbClr>
            </a:lnRef>
            <a:fillRef idx="1">
              <a:srgbClr val="CC0000"/>
            </a:fillRef>
            <a:effectRef idx="0">
              <a:scrgbClr r="0" g="0" b="0"/>
            </a:effectRef>
            <a:fontRef idx="none"/>
          </p:style>
          <p:txBody>
            <a:bodyPr/>
            <a:lstStyle/>
            <a:p>
              <a:endParaRPr lang="en-IN"/>
            </a:p>
          </p:txBody>
        </p:sp>
        <p:sp>
          <p:nvSpPr>
            <p:cNvPr id="9" name="Shape 3534">
              <a:extLst>
                <a:ext uri="{FF2B5EF4-FFF2-40B4-BE49-F238E27FC236}">
                  <a16:creationId xmlns:a16="http://schemas.microsoft.com/office/drawing/2014/main" id="{94B848AC-A5D8-65C7-D43F-8B1042D05827}"/>
                </a:ext>
              </a:extLst>
            </p:cNvPr>
            <p:cNvSpPr/>
            <p:nvPr/>
          </p:nvSpPr>
          <p:spPr>
            <a:xfrm>
              <a:off x="8123797" y="2549932"/>
              <a:ext cx="190081" cy="941045"/>
            </a:xfrm>
            <a:custGeom>
              <a:avLst/>
              <a:gdLst/>
              <a:ahLst/>
              <a:cxnLst/>
              <a:rect l="0" t="0" r="0" b="0"/>
              <a:pathLst>
                <a:path w="190081" h="941045">
                  <a:moveTo>
                    <a:pt x="0" y="0"/>
                  </a:moveTo>
                  <a:lnTo>
                    <a:pt x="190081" y="0"/>
                  </a:lnTo>
                  <a:lnTo>
                    <a:pt x="190081" y="941045"/>
                  </a:lnTo>
                  <a:lnTo>
                    <a:pt x="0" y="941045"/>
                  </a:lnTo>
                  <a:lnTo>
                    <a:pt x="0" y="0"/>
                  </a:lnTo>
                </a:path>
              </a:pathLst>
            </a:custGeom>
            <a:ln w="0" cap="flat">
              <a:miter lim="127000"/>
            </a:ln>
          </p:spPr>
          <p:style>
            <a:lnRef idx="0">
              <a:srgbClr val="000000">
                <a:alpha val="0"/>
              </a:srgbClr>
            </a:lnRef>
            <a:fillRef idx="1">
              <a:srgbClr val="2D5494"/>
            </a:fillRef>
            <a:effectRef idx="0">
              <a:scrgbClr r="0" g="0" b="0"/>
            </a:effectRef>
            <a:fontRef idx="none"/>
          </p:style>
          <p:txBody>
            <a:bodyPr/>
            <a:lstStyle/>
            <a:p>
              <a:endParaRPr lang="en-IN"/>
            </a:p>
          </p:txBody>
        </p:sp>
        <p:sp>
          <p:nvSpPr>
            <p:cNvPr id="10" name="Shape 55">
              <a:extLst>
                <a:ext uri="{FF2B5EF4-FFF2-40B4-BE49-F238E27FC236}">
                  <a16:creationId xmlns:a16="http://schemas.microsoft.com/office/drawing/2014/main" id="{02C86BC7-DEAE-D25A-FC54-0117356A9566}"/>
                </a:ext>
              </a:extLst>
            </p:cNvPr>
            <p:cNvSpPr/>
            <p:nvPr/>
          </p:nvSpPr>
          <p:spPr>
            <a:xfrm>
              <a:off x="0" y="1177671"/>
              <a:ext cx="8256258" cy="381"/>
            </a:xfrm>
            <a:custGeom>
              <a:avLst/>
              <a:gdLst/>
              <a:ahLst/>
              <a:cxnLst/>
              <a:rect l="0" t="0" r="0" b="0"/>
              <a:pathLst>
                <a:path w="8256258" h="381">
                  <a:moveTo>
                    <a:pt x="0" y="0"/>
                  </a:moveTo>
                  <a:lnTo>
                    <a:pt x="8256258" y="381"/>
                  </a:lnTo>
                </a:path>
              </a:pathLst>
            </a:custGeom>
            <a:ln w="19050" cap="flat">
              <a:round/>
            </a:ln>
          </p:spPr>
          <p:style>
            <a:lnRef idx="1">
              <a:srgbClr val="0E2141"/>
            </a:lnRef>
            <a:fillRef idx="0">
              <a:srgbClr val="000000">
                <a:alpha val="0"/>
              </a:srgbClr>
            </a:fillRef>
            <a:effectRef idx="0">
              <a:scrgbClr r="0" g="0" b="0"/>
            </a:effectRef>
            <a:fontRef idx="none"/>
          </p:style>
          <p:txBody>
            <a:bodyPr/>
            <a:lstStyle/>
            <a:p>
              <a:endParaRPr lang="en-IN"/>
            </a:p>
          </p:txBody>
        </p:sp>
        <p:sp>
          <p:nvSpPr>
            <p:cNvPr id="11" name="Rectangle 10">
              <a:extLst>
                <a:ext uri="{FF2B5EF4-FFF2-40B4-BE49-F238E27FC236}">
                  <a16:creationId xmlns:a16="http://schemas.microsoft.com/office/drawing/2014/main" id="{7CEAC3B9-5378-1A68-36D5-AB8D6A383426}"/>
                </a:ext>
              </a:extLst>
            </p:cNvPr>
            <p:cNvSpPr/>
            <p:nvPr/>
          </p:nvSpPr>
          <p:spPr>
            <a:xfrm>
              <a:off x="651269" y="556032"/>
              <a:ext cx="4121107" cy="687901"/>
            </a:xfrm>
            <a:prstGeom prst="rect">
              <a:avLst/>
            </a:prstGeom>
            <a:ln>
              <a:noFill/>
            </a:ln>
          </p:spPr>
          <p:txBody>
            <a:bodyPr vert="horz" lIns="0" tIns="0" rIns="0" bIns="0" rtlCol="0">
              <a:noAutofit/>
            </a:bodyPr>
            <a:lstStyle/>
            <a:p>
              <a:pPr>
                <a:lnSpc>
                  <a:spcPct val="107000"/>
                </a:lnSpc>
                <a:spcAft>
                  <a:spcPts val="800"/>
                </a:spcAft>
              </a:pPr>
              <a:r>
                <a:rPr lang="en-IN" sz="4000" kern="100" dirty="0">
                  <a:solidFill>
                    <a:srgbClr val="0E2141"/>
                  </a:solidFill>
                  <a:effectLst/>
                  <a:latin typeface="Calibri" panose="020F0502020204030204" pitchFamily="34" charset="0"/>
                  <a:ea typeface="Calibri" panose="020F0502020204030204" pitchFamily="34" charset="0"/>
                </a:rPr>
                <a:t>Materials Used</a:t>
              </a:r>
              <a:endParaRPr lang="en-IN" sz="1100" kern="100" dirty="0">
                <a:solidFill>
                  <a:srgbClr val="000000"/>
                </a:solidFill>
                <a:effectLst/>
                <a:latin typeface="Calibri" panose="020F0502020204030204" pitchFamily="34" charset="0"/>
                <a:ea typeface="Calibri" panose="020F0502020204030204" pitchFamily="34" charset="0"/>
              </a:endParaRPr>
            </a:p>
          </p:txBody>
        </p:sp>
        <p:sp>
          <p:nvSpPr>
            <p:cNvPr id="12" name="Shape 3535">
              <a:extLst>
                <a:ext uri="{FF2B5EF4-FFF2-40B4-BE49-F238E27FC236}">
                  <a16:creationId xmlns:a16="http://schemas.microsoft.com/office/drawing/2014/main" id="{4B0CCEAA-4411-5BF3-71D2-7B5190907FC9}"/>
                </a:ext>
              </a:extLst>
            </p:cNvPr>
            <p:cNvSpPr/>
            <p:nvPr/>
          </p:nvSpPr>
          <p:spPr>
            <a:xfrm>
              <a:off x="819925" y="1280491"/>
              <a:ext cx="2765552" cy="404927"/>
            </a:xfrm>
            <a:custGeom>
              <a:avLst/>
              <a:gdLst/>
              <a:ahLst/>
              <a:cxnLst/>
              <a:rect l="0" t="0" r="0" b="0"/>
              <a:pathLst>
                <a:path w="2765552" h="404927">
                  <a:moveTo>
                    <a:pt x="0" y="0"/>
                  </a:moveTo>
                  <a:lnTo>
                    <a:pt x="2765552" y="0"/>
                  </a:lnTo>
                  <a:lnTo>
                    <a:pt x="2765552" y="404927"/>
                  </a:lnTo>
                  <a:lnTo>
                    <a:pt x="0" y="404927"/>
                  </a:lnTo>
                  <a:lnTo>
                    <a:pt x="0" y="0"/>
                  </a:lnTo>
                </a:path>
              </a:pathLst>
            </a:custGeom>
            <a:ln w="0" cap="flat">
              <a:round/>
            </a:ln>
          </p:spPr>
          <p:style>
            <a:lnRef idx="0">
              <a:srgbClr val="000000">
                <a:alpha val="0"/>
              </a:srgbClr>
            </a:lnRef>
            <a:fillRef idx="1">
              <a:srgbClr val="CC0000"/>
            </a:fillRef>
            <a:effectRef idx="0">
              <a:scrgbClr r="0" g="0" b="0"/>
            </a:effectRef>
            <a:fontRef idx="none"/>
          </p:style>
          <p:txBody>
            <a:bodyPr/>
            <a:lstStyle/>
            <a:p>
              <a:endParaRPr lang="en-IN"/>
            </a:p>
          </p:txBody>
        </p:sp>
        <p:sp>
          <p:nvSpPr>
            <p:cNvPr id="13" name="Shape 3536">
              <a:extLst>
                <a:ext uri="{FF2B5EF4-FFF2-40B4-BE49-F238E27FC236}">
                  <a16:creationId xmlns:a16="http://schemas.microsoft.com/office/drawing/2014/main" id="{3984F95B-AEA9-D843-6604-003A9093873E}"/>
                </a:ext>
              </a:extLst>
            </p:cNvPr>
            <p:cNvSpPr/>
            <p:nvPr/>
          </p:nvSpPr>
          <p:spPr>
            <a:xfrm>
              <a:off x="3585451" y="1280491"/>
              <a:ext cx="2765552" cy="404927"/>
            </a:xfrm>
            <a:custGeom>
              <a:avLst/>
              <a:gdLst/>
              <a:ahLst/>
              <a:cxnLst/>
              <a:rect l="0" t="0" r="0" b="0"/>
              <a:pathLst>
                <a:path w="2765552" h="404927">
                  <a:moveTo>
                    <a:pt x="0" y="0"/>
                  </a:moveTo>
                  <a:lnTo>
                    <a:pt x="2765552" y="0"/>
                  </a:lnTo>
                  <a:lnTo>
                    <a:pt x="2765552" y="404927"/>
                  </a:lnTo>
                  <a:lnTo>
                    <a:pt x="0" y="404927"/>
                  </a:lnTo>
                  <a:lnTo>
                    <a:pt x="0" y="0"/>
                  </a:lnTo>
                </a:path>
              </a:pathLst>
            </a:custGeom>
            <a:ln w="0" cap="flat">
              <a:round/>
            </a:ln>
          </p:spPr>
          <p:style>
            <a:lnRef idx="0">
              <a:srgbClr val="000000">
                <a:alpha val="0"/>
              </a:srgbClr>
            </a:lnRef>
            <a:fillRef idx="1">
              <a:srgbClr val="CC0000"/>
            </a:fillRef>
            <a:effectRef idx="0">
              <a:scrgbClr r="0" g="0" b="0"/>
            </a:effectRef>
            <a:fontRef idx="none"/>
          </p:style>
          <p:txBody>
            <a:bodyPr/>
            <a:lstStyle/>
            <a:p>
              <a:endParaRPr lang="en-IN"/>
            </a:p>
          </p:txBody>
        </p:sp>
        <p:sp>
          <p:nvSpPr>
            <p:cNvPr id="14" name="Shape 3537">
              <a:extLst>
                <a:ext uri="{FF2B5EF4-FFF2-40B4-BE49-F238E27FC236}">
                  <a16:creationId xmlns:a16="http://schemas.microsoft.com/office/drawing/2014/main" id="{B80FF64D-9731-AE63-1491-AB6EE44DC41A}"/>
                </a:ext>
              </a:extLst>
            </p:cNvPr>
            <p:cNvSpPr/>
            <p:nvPr/>
          </p:nvSpPr>
          <p:spPr>
            <a:xfrm>
              <a:off x="819925" y="1685405"/>
              <a:ext cx="2765552" cy="434861"/>
            </a:xfrm>
            <a:custGeom>
              <a:avLst/>
              <a:gdLst/>
              <a:ahLst/>
              <a:cxnLst/>
              <a:rect l="0" t="0" r="0" b="0"/>
              <a:pathLst>
                <a:path w="2765552" h="434861">
                  <a:moveTo>
                    <a:pt x="0" y="0"/>
                  </a:moveTo>
                  <a:lnTo>
                    <a:pt x="2765552" y="0"/>
                  </a:lnTo>
                  <a:lnTo>
                    <a:pt x="2765552" y="434861"/>
                  </a:lnTo>
                  <a:lnTo>
                    <a:pt x="0" y="434861"/>
                  </a:lnTo>
                  <a:lnTo>
                    <a:pt x="0" y="0"/>
                  </a:lnTo>
                </a:path>
              </a:pathLst>
            </a:custGeom>
            <a:ln w="0" cap="flat">
              <a:round/>
            </a:ln>
          </p:spPr>
          <p:style>
            <a:lnRef idx="0">
              <a:srgbClr val="000000">
                <a:alpha val="0"/>
              </a:srgbClr>
            </a:lnRef>
            <a:fillRef idx="1">
              <a:srgbClr val="ECCBCB"/>
            </a:fillRef>
            <a:effectRef idx="0">
              <a:scrgbClr r="0" g="0" b="0"/>
            </a:effectRef>
            <a:fontRef idx="none"/>
          </p:style>
          <p:txBody>
            <a:bodyPr/>
            <a:lstStyle/>
            <a:p>
              <a:endParaRPr lang="en-IN"/>
            </a:p>
          </p:txBody>
        </p:sp>
        <p:sp>
          <p:nvSpPr>
            <p:cNvPr id="15" name="Shape 3538">
              <a:extLst>
                <a:ext uri="{FF2B5EF4-FFF2-40B4-BE49-F238E27FC236}">
                  <a16:creationId xmlns:a16="http://schemas.microsoft.com/office/drawing/2014/main" id="{E14AE1F2-5320-84E8-A6C9-AB235C48CD84}"/>
                </a:ext>
              </a:extLst>
            </p:cNvPr>
            <p:cNvSpPr/>
            <p:nvPr/>
          </p:nvSpPr>
          <p:spPr>
            <a:xfrm>
              <a:off x="3585451" y="1685405"/>
              <a:ext cx="2765552" cy="434861"/>
            </a:xfrm>
            <a:custGeom>
              <a:avLst/>
              <a:gdLst/>
              <a:ahLst/>
              <a:cxnLst/>
              <a:rect l="0" t="0" r="0" b="0"/>
              <a:pathLst>
                <a:path w="2765552" h="434861">
                  <a:moveTo>
                    <a:pt x="0" y="0"/>
                  </a:moveTo>
                  <a:lnTo>
                    <a:pt x="2765552" y="0"/>
                  </a:lnTo>
                  <a:lnTo>
                    <a:pt x="2765552" y="434861"/>
                  </a:lnTo>
                  <a:lnTo>
                    <a:pt x="0" y="434861"/>
                  </a:lnTo>
                  <a:lnTo>
                    <a:pt x="0" y="0"/>
                  </a:lnTo>
                </a:path>
              </a:pathLst>
            </a:custGeom>
            <a:ln w="0" cap="flat">
              <a:round/>
            </a:ln>
          </p:spPr>
          <p:style>
            <a:lnRef idx="0">
              <a:srgbClr val="000000">
                <a:alpha val="0"/>
              </a:srgbClr>
            </a:lnRef>
            <a:fillRef idx="1">
              <a:srgbClr val="ECCBCB"/>
            </a:fillRef>
            <a:effectRef idx="0">
              <a:scrgbClr r="0" g="0" b="0"/>
            </a:effectRef>
            <a:fontRef idx="none"/>
          </p:style>
          <p:txBody>
            <a:bodyPr/>
            <a:lstStyle/>
            <a:p>
              <a:endParaRPr lang="en-IN"/>
            </a:p>
          </p:txBody>
        </p:sp>
        <p:sp>
          <p:nvSpPr>
            <p:cNvPr id="16" name="Shape 3539">
              <a:extLst>
                <a:ext uri="{FF2B5EF4-FFF2-40B4-BE49-F238E27FC236}">
                  <a16:creationId xmlns:a16="http://schemas.microsoft.com/office/drawing/2014/main" id="{FFA75AA6-C947-26DD-5C91-D437A03CF90A}"/>
                </a:ext>
              </a:extLst>
            </p:cNvPr>
            <p:cNvSpPr/>
            <p:nvPr/>
          </p:nvSpPr>
          <p:spPr>
            <a:xfrm>
              <a:off x="819925" y="2120303"/>
              <a:ext cx="2765552" cy="391249"/>
            </a:xfrm>
            <a:custGeom>
              <a:avLst/>
              <a:gdLst/>
              <a:ahLst/>
              <a:cxnLst/>
              <a:rect l="0" t="0" r="0" b="0"/>
              <a:pathLst>
                <a:path w="2765552" h="391249">
                  <a:moveTo>
                    <a:pt x="0" y="0"/>
                  </a:moveTo>
                  <a:lnTo>
                    <a:pt x="2765552" y="0"/>
                  </a:lnTo>
                  <a:lnTo>
                    <a:pt x="2765552" y="391249"/>
                  </a:lnTo>
                  <a:lnTo>
                    <a:pt x="0" y="391249"/>
                  </a:lnTo>
                  <a:lnTo>
                    <a:pt x="0" y="0"/>
                  </a:lnTo>
                </a:path>
              </a:pathLst>
            </a:custGeom>
            <a:ln w="0" cap="flat">
              <a:round/>
            </a:ln>
          </p:spPr>
          <p:style>
            <a:lnRef idx="0">
              <a:srgbClr val="000000">
                <a:alpha val="0"/>
              </a:srgbClr>
            </a:lnRef>
            <a:fillRef idx="1">
              <a:srgbClr val="F6E7E7"/>
            </a:fillRef>
            <a:effectRef idx="0">
              <a:scrgbClr r="0" g="0" b="0"/>
            </a:effectRef>
            <a:fontRef idx="none"/>
          </p:style>
          <p:txBody>
            <a:bodyPr/>
            <a:lstStyle/>
            <a:p>
              <a:endParaRPr lang="en-IN"/>
            </a:p>
          </p:txBody>
        </p:sp>
        <p:sp>
          <p:nvSpPr>
            <p:cNvPr id="17" name="Shape 3540">
              <a:extLst>
                <a:ext uri="{FF2B5EF4-FFF2-40B4-BE49-F238E27FC236}">
                  <a16:creationId xmlns:a16="http://schemas.microsoft.com/office/drawing/2014/main" id="{631EE582-B6FA-55FA-FDEC-00360A65174A}"/>
                </a:ext>
              </a:extLst>
            </p:cNvPr>
            <p:cNvSpPr/>
            <p:nvPr/>
          </p:nvSpPr>
          <p:spPr>
            <a:xfrm>
              <a:off x="3585451" y="2120303"/>
              <a:ext cx="2765552" cy="391249"/>
            </a:xfrm>
            <a:custGeom>
              <a:avLst/>
              <a:gdLst/>
              <a:ahLst/>
              <a:cxnLst/>
              <a:rect l="0" t="0" r="0" b="0"/>
              <a:pathLst>
                <a:path w="2765552" h="391249">
                  <a:moveTo>
                    <a:pt x="0" y="0"/>
                  </a:moveTo>
                  <a:lnTo>
                    <a:pt x="2765552" y="0"/>
                  </a:lnTo>
                  <a:lnTo>
                    <a:pt x="2765552" y="391249"/>
                  </a:lnTo>
                  <a:lnTo>
                    <a:pt x="0" y="391249"/>
                  </a:lnTo>
                  <a:lnTo>
                    <a:pt x="0" y="0"/>
                  </a:lnTo>
                </a:path>
              </a:pathLst>
            </a:custGeom>
            <a:ln w="0" cap="flat">
              <a:round/>
            </a:ln>
          </p:spPr>
          <p:style>
            <a:lnRef idx="0">
              <a:srgbClr val="000000">
                <a:alpha val="0"/>
              </a:srgbClr>
            </a:lnRef>
            <a:fillRef idx="1">
              <a:srgbClr val="F6E7E7"/>
            </a:fillRef>
            <a:effectRef idx="0">
              <a:scrgbClr r="0" g="0" b="0"/>
            </a:effectRef>
            <a:fontRef idx="none"/>
          </p:style>
          <p:txBody>
            <a:bodyPr/>
            <a:lstStyle/>
            <a:p>
              <a:endParaRPr lang="en-IN" dirty="0"/>
            </a:p>
          </p:txBody>
        </p:sp>
        <p:sp>
          <p:nvSpPr>
            <p:cNvPr id="18" name="Shape 3541">
              <a:extLst>
                <a:ext uri="{FF2B5EF4-FFF2-40B4-BE49-F238E27FC236}">
                  <a16:creationId xmlns:a16="http://schemas.microsoft.com/office/drawing/2014/main" id="{93FBE03C-F98A-2E25-C76D-E3662351D2D6}"/>
                </a:ext>
              </a:extLst>
            </p:cNvPr>
            <p:cNvSpPr/>
            <p:nvPr/>
          </p:nvSpPr>
          <p:spPr>
            <a:xfrm>
              <a:off x="819925" y="2511590"/>
              <a:ext cx="2765552" cy="391249"/>
            </a:xfrm>
            <a:custGeom>
              <a:avLst/>
              <a:gdLst/>
              <a:ahLst/>
              <a:cxnLst/>
              <a:rect l="0" t="0" r="0" b="0"/>
              <a:pathLst>
                <a:path w="2765552" h="391249">
                  <a:moveTo>
                    <a:pt x="0" y="0"/>
                  </a:moveTo>
                  <a:lnTo>
                    <a:pt x="2765552" y="0"/>
                  </a:lnTo>
                  <a:lnTo>
                    <a:pt x="2765552" y="391249"/>
                  </a:lnTo>
                  <a:lnTo>
                    <a:pt x="0" y="391249"/>
                  </a:lnTo>
                  <a:lnTo>
                    <a:pt x="0" y="0"/>
                  </a:lnTo>
                </a:path>
              </a:pathLst>
            </a:custGeom>
            <a:ln w="0" cap="flat">
              <a:round/>
            </a:ln>
          </p:spPr>
          <p:style>
            <a:lnRef idx="0">
              <a:srgbClr val="000000">
                <a:alpha val="0"/>
              </a:srgbClr>
            </a:lnRef>
            <a:fillRef idx="1">
              <a:srgbClr val="ECCBCB"/>
            </a:fillRef>
            <a:effectRef idx="0">
              <a:scrgbClr r="0" g="0" b="0"/>
            </a:effectRef>
            <a:fontRef idx="none"/>
          </p:style>
          <p:txBody>
            <a:bodyPr/>
            <a:lstStyle/>
            <a:p>
              <a:endParaRPr lang="en-IN"/>
            </a:p>
          </p:txBody>
        </p:sp>
        <p:sp>
          <p:nvSpPr>
            <p:cNvPr id="19" name="Shape 3542">
              <a:extLst>
                <a:ext uri="{FF2B5EF4-FFF2-40B4-BE49-F238E27FC236}">
                  <a16:creationId xmlns:a16="http://schemas.microsoft.com/office/drawing/2014/main" id="{4B9F58AF-7929-C6B6-56BE-A195A189DEC0}"/>
                </a:ext>
              </a:extLst>
            </p:cNvPr>
            <p:cNvSpPr/>
            <p:nvPr/>
          </p:nvSpPr>
          <p:spPr>
            <a:xfrm>
              <a:off x="3585451" y="2511590"/>
              <a:ext cx="2765552" cy="391249"/>
            </a:xfrm>
            <a:custGeom>
              <a:avLst/>
              <a:gdLst/>
              <a:ahLst/>
              <a:cxnLst/>
              <a:rect l="0" t="0" r="0" b="0"/>
              <a:pathLst>
                <a:path w="2765552" h="391249">
                  <a:moveTo>
                    <a:pt x="0" y="0"/>
                  </a:moveTo>
                  <a:lnTo>
                    <a:pt x="2765552" y="0"/>
                  </a:lnTo>
                  <a:lnTo>
                    <a:pt x="2765552" y="391249"/>
                  </a:lnTo>
                  <a:lnTo>
                    <a:pt x="0" y="391249"/>
                  </a:lnTo>
                  <a:lnTo>
                    <a:pt x="0" y="0"/>
                  </a:lnTo>
                </a:path>
              </a:pathLst>
            </a:custGeom>
            <a:ln w="0" cap="flat">
              <a:round/>
            </a:ln>
          </p:spPr>
          <p:style>
            <a:lnRef idx="0">
              <a:srgbClr val="000000">
                <a:alpha val="0"/>
              </a:srgbClr>
            </a:lnRef>
            <a:fillRef idx="1">
              <a:srgbClr val="ECCBCB"/>
            </a:fillRef>
            <a:effectRef idx="0">
              <a:scrgbClr r="0" g="0" b="0"/>
            </a:effectRef>
            <a:fontRef idx="none"/>
          </p:style>
          <p:txBody>
            <a:bodyPr/>
            <a:lstStyle/>
            <a:p>
              <a:endParaRPr lang="en-IN"/>
            </a:p>
          </p:txBody>
        </p:sp>
        <p:sp>
          <p:nvSpPr>
            <p:cNvPr id="20" name="Shape 3543">
              <a:extLst>
                <a:ext uri="{FF2B5EF4-FFF2-40B4-BE49-F238E27FC236}">
                  <a16:creationId xmlns:a16="http://schemas.microsoft.com/office/drawing/2014/main" id="{9B62E5A4-9639-4C23-14E3-82B859A486D6}"/>
                </a:ext>
              </a:extLst>
            </p:cNvPr>
            <p:cNvSpPr/>
            <p:nvPr/>
          </p:nvSpPr>
          <p:spPr>
            <a:xfrm>
              <a:off x="819925" y="2902877"/>
              <a:ext cx="2765552" cy="391249"/>
            </a:xfrm>
            <a:custGeom>
              <a:avLst/>
              <a:gdLst/>
              <a:ahLst/>
              <a:cxnLst/>
              <a:rect l="0" t="0" r="0" b="0"/>
              <a:pathLst>
                <a:path w="2765552" h="391249">
                  <a:moveTo>
                    <a:pt x="0" y="0"/>
                  </a:moveTo>
                  <a:lnTo>
                    <a:pt x="2765552" y="0"/>
                  </a:lnTo>
                  <a:lnTo>
                    <a:pt x="2765552" y="391249"/>
                  </a:lnTo>
                  <a:lnTo>
                    <a:pt x="0" y="391249"/>
                  </a:lnTo>
                  <a:lnTo>
                    <a:pt x="0" y="0"/>
                  </a:lnTo>
                </a:path>
              </a:pathLst>
            </a:custGeom>
            <a:ln w="0" cap="flat">
              <a:round/>
            </a:ln>
          </p:spPr>
          <p:style>
            <a:lnRef idx="0">
              <a:srgbClr val="000000">
                <a:alpha val="0"/>
              </a:srgbClr>
            </a:lnRef>
            <a:fillRef idx="1">
              <a:srgbClr val="F6E7E7"/>
            </a:fillRef>
            <a:effectRef idx="0">
              <a:scrgbClr r="0" g="0" b="0"/>
            </a:effectRef>
            <a:fontRef idx="none"/>
          </p:style>
          <p:txBody>
            <a:bodyPr/>
            <a:lstStyle/>
            <a:p>
              <a:endParaRPr lang="en-IN"/>
            </a:p>
          </p:txBody>
        </p:sp>
        <p:sp>
          <p:nvSpPr>
            <p:cNvPr id="21" name="Shape 3544">
              <a:extLst>
                <a:ext uri="{FF2B5EF4-FFF2-40B4-BE49-F238E27FC236}">
                  <a16:creationId xmlns:a16="http://schemas.microsoft.com/office/drawing/2014/main" id="{4981C1BE-C1CA-4CDD-E7F0-6EBD8C6F5152}"/>
                </a:ext>
              </a:extLst>
            </p:cNvPr>
            <p:cNvSpPr/>
            <p:nvPr/>
          </p:nvSpPr>
          <p:spPr>
            <a:xfrm>
              <a:off x="3585451" y="2902877"/>
              <a:ext cx="2765552" cy="391249"/>
            </a:xfrm>
            <a:custGeom>
              <a:avLst/>
              <a:gdLst/>
              <a:ahLst/>
              <a:cxnLst/>
              <a:rect l="0" t="0" r="0" b="0"/>
              <a:pathLst>
                <a:path w="2765552" h="391249">
                  <a:moveTo>
                    <a:pt x="0" y="0"/>
                  </a:moveTo>
                  <a:lnTo>
                    <a:pt x="2765552" y="0"/>
                  </a:lnTo>
                  <a:lnTo>
                    <a:pt x="2765552" y="391249"/>
                  </a:lnTo>
                  <a:lnTo>
                    <a:pt x="0" y="391249"/>
                  </a:lnTo>
                  <a:lnTo>
                    <a:pt x="0" y="0"/>
                  </a:lnTo>
                </a:path>
              </a:pathLst>
            </a:custGeom>
            <a:ln w="0" cap="flat">
              <a:round/>
            </a:ln>
          </p:spPr>
          <p:style>
            <a:lnRef idx="0">
              <a:srgbClr val="000000">
                <a:alpha val="0"/>
              </a:srgbClr>
            </a:lnRef>
            <a:fillRef idx="1">
              <a:srgbClr val="F6E7E7"/>
            </a:fillRef>
            <a:effectRef idx="0">
              <a:scrgbClr r="0" g="0" b="0"/>
            </a:effectRef>
            <a:fontRef idx="none"/>
          </p:style>
          <p:txBody>
            <a:bodyPr/>
            <a:lstStyle/>
            <a:p>
              <a:endParaRPr lang="en-IN"/>
            </a:p>
          </p:txBody>
        </p:sp>
        <p:sp>
          <p:nvSpPr>
            <p:cNvPr id="22" name="Shape 3545">
              <a:extLst>
                <a:ext uri="{FF2B5EF4-FFF2-40B4-BE49-F238E27FC236}">
                  <a16:creationId xmlns:a16="http://schemas.microsoft.com/office/drawing/2014/main" id="{2CDA65E1-2FAA-0E64-AD51-A37BBF103C15}"/>
                </a:ext>
              </a:extLst>
            </p:cNvPr>
            <p:cNvSpPr/>
            <p:nvPr/>
          </p:nvSpPr>
          <p:spPr>
            <a:xfrm>
              <a:off x="819925" y="3294075"/>
              <a:ext cx="2765552" cy="397370"/>
            </a:xfrm>
            <a:custGeom>
              <a:avLst/>
              <a:gdLst/>
              <a:ahLst/>
              <a:cxnLst/>
              <a:rect l="0" t="0" r="0" b="0"/>
              <a:pathLst>
                <a:path w="2765552" h="397370">
                  <a:moveTo>
                    <a:pt x="0" y="0"/>
                  </a:moveTo>
                  <a:lnTo>
                    <a:pt x="2765552" y="0"/>
                  </a:lnTo>
                  <a:lnTo>
                    <a:pt x="2765552" y="397370"/>
                  </a:lnTo>
                  <a:lnTo>
                    <a:pt x="0" y="397370"/>
                  </a:lnTo>
                  <a:lnTo>
                    <a:pt x="0" y="0"/>
                  </a:lnTo>
                </a:path>
              </a:pathLst>
            </a:custGeom>
            <a:ln w="0" cap="flat">
              <a:round/>
            </a:ln>
          </p:spPr>
          <p:style>
            <a:lnRef idx="0">
              <a:srgbClr val="000000">
                <a:alpha val="0"/>
              </a:srgbClr>
            </a:lnRef>
            <a:fillRef idx="1">
              <a:srgbClr val="ECCBCB"/>
            </a:fillRef>
            <a:effectRef idx="0">
              <a:scrgbClr r="0" g="0" b="0"/>
            </a:effectRef>
            <a:fontRef idx="none"/>
          </p:style>
          <p:txBody>
            <a:bodyPr/>
            <a:lstStyle/>
            <a:p>
              <a:endParaRPr lang="en-IN"/>
            </a:p>
          </p:txBody>
        </p:sp>
        <p:sp>
          <p:nvSpPr>
            <p:cNvPr id="23" name="Shape 3546">
              <a:extLst>
                <a:ext uri="{FF2B5EF4-FFF2-40B4-BE49-F238E27FC236}">
                  <a16:creationId xmlns:a16="http://schemas.microsoft.com/office/drawing/2014/main" id="{E87D3BD3-C3AE-4757-973C-C9F97D79F197}"/>
                </a:ext>
              </a:extLst>
            </p:cNvPr>
            <p:cNvSpPr/>
            <p:nvPr/>
          </p:nvSpPr>
          <p:spPr>
            <a:xfrm>
              <a:off x="3585451" y="3294075"/>
              <a:ext cx="2765552" cy="397370"/>
            </a:xfrm>
            <a:custGeom>
              <a:avLst/>
              <a:gdLst/>
              <a:ahLst/>
              <a:cxnLst/>
              <a:rect l="0" t="0" r="0" b="0"/>
              <a:pathLst>
                <a:path w="2765552" h="397370">
                  <a:moveTo>
                    <a:pt x="0" y="0"/>
                  </a:moveTo>
                  <a:lnTo>
                    <a:pt x="2765552" y="0"/>
                  </a:lnTo>
                  <a:lnTo>
                    <a:pt x="2765552" y="397370"/>
                  </a:lnTo>
                  <a:lnTo>
                    <a:pt x="0" y="397370"/>
                  </a:lnTo>
                  <a:lnTo>
                    <a:pt x="0" y="0"/>
                  </a:lnTo>
                </a:path>
              </a:pathLst>
            </a:custGeom>
            <a:ln w="0" cap="flat">
              <a:round/>
            </a:ln>
          </p:spPr>
          <p:style>
            <a:lnRef idx="0">
              <a:srgbClr val="000000">
                <a:alpha val="0"/>
              </a:srgbClr>
            </a:lnRef>
            <a:fillRef idx="1">
              <a:srgbClr val="ECCBCB"/>
            </a:fillRef>
            <a:effectRef idx="0">
              <a:scrgbClr r="0" g="0" b="0"/>
            </a:effectRef>
            <a:fontRef idx="none"/>
          </p:style>
          <p:txBody>
            <a:bodyPr/>
            <a:lstStyle/>
            <a:p>
              <a:endParaRPr lang="en-IN"/>
            </a:p>
          </p:txBody>
        </p:sp>
        <p:sp>
          <p:nvSpPr>
            <p:cNvPr id="24" name="Shape 3547">
              <a:extLst>
                <a:ext uri="{FF2B5EF4-FFF2-40B4-BE49-F238E27FC236}">
                  <a16:creationId xmlns:a16="http://schemas.microsoft.com/office/drawing/2014/main" id="{D3A332E9-F665-E1F4-42BD-D68209F412F7}"/>
                </a:ext>
              </a:extLst>
            </p:cNvPr>
            <p:cNvSpPr/>
            <p:nvPr/>
          </p:nvSpPr>
          <p:spPr>
            <a:xfrm>
              <a:off x="819925" y="3691446"/>
              <a:ext cx="2765552" cy="411480"/>
            </a:xfrm>
            <a:custGeom>
              <a:avLst/>
              <a:gdLst/>
              <a:ahLst/>
              <a:cxnLst/>
              <a:rect l="0" t="0" r="0" b="0"/>
              <a:pathLst>
                <a:path w="2765552" h="411480">
                  <a:moveTo>
                    <a:pt x="0" y="0"/>
                  </a:moveTo>
                  <a:lnTo>
                    <a:pt x="2765552" y="0"/>
                  </a:lnTo>
                  <a:lnTo>
                    <a:pt x="2765552" y="411480"/>
                  </a:lnTo>
                  <a:lnTo>
                    <a:pt x="0" y="411480"/>
                  </a:lnTo>
                  <a:lnTo>
                    <a:pt x="0" y="0"/>
                  </a:lnTo>
                </a:path>
              </a:pathLst>
            </a:custGeom>
            <a:ln w="0" cap="flat">
              <a:round/>
            </a:ln>
          </p:spPr>
          <p:style>
            <a:lnRef idx="0">
              <a:srgbClr val="000000">
                <a:alpha val="0"/>
              </a:srgbClr>
            </a:lnRef>
            <a:fillRef idx="1">
              <a:srgbClr val="F6E7E7"/>
            </a:fillRef>
            <a:effectRef idx="0">
              <a:scrgbClr r="0" g="0" b="0"/>
            </a:effectRef>
            <a:fontRef idx="none"/>
          </p:style>
          <p:txBody>
            <a:bodyPr/>
            <a:lstStyle/>
            <a:p>
              <a:endParaRPr lang="en-IN"/>
            </a:p>
          </p:txBody>
        </p:sp>
        <p:sp>
          <p:nvSpPr>
            <p:cNvPr id="25" name="Shape 3548">
              <a:extLst>
                <a:ext uri="{FF2B5EF4-FFF2-40B4-BE49-F238E27FC236}">
                  <a16:creationId xmlns:a16="http://schemas.microsoft.com/office/drawing/2014/main" id="{7F892012-7AEB-C29A-00D2-93B82C7BA77C}"/>
                </a:ext>
              </a:extLst>
            </p:cNvPr>
            <p:cNvSpPr/>
            <p:nvPr/>
          </p:nvSpPr>
          <p:spPr>
            <a:xfrm>
              <a:off x="3552638" y="3684364"/>
              <a:ext cx="2765552" cy="411480"/>
            </a:xfrm>
            <a:custGeom>
              <a:avLst/>
              <a:gdLst/>
              <a:ahLst/>
              <a:cxnLst/>
              <a:rect l="0" t="0" r="0" b="0"/>
              <a:pathLst>
                <a:path w="2765552" h="411480">
                  <a:moveTo>
                    <a:pt x="0" y="0"/>
                  </a:moveTo>
                  <a:lnTo>
                    <a:pt x="2765552" y="0"/>
                  </a:lnTo>
                  <a:lnTo>
                    <a:pt x="2765552" y="411480"/>
                  </a:lnTo>
                  <a:lnTo>
                    <a:pt x="0" y="411480"/>
                  </a:lnTo>
                  <a:lnTo>
                    <a:pt x="0" y="0"/>
                  </a:lnTo>
                </a:path>
              </a:pathLst>
            </a:custGeom>
            <a:ln w="0" cap="flat">
              <a:round/>
            </a:ln>
          </p:spPr>
          <p:style>
            <a:lnRef idx="0">
              <a:srgbClr val="000000">
                <a:alpha val="0"/>
              </a:srgbClr>
            </a:lnRef>
            <a:fillRef idx="1">
              <a:srgbClr val="F6E7E7"/>
            </a:fillRef>
            <a:effectRef idx="0">
              <a:scrgbClr r="0" g="0" b="0"/>
            </a:effectRef>
            <a:fontRef idx="none"/>
          </p:style>
          <p:txBody>
            <a:bodyPr/>
            <a:lstStyle/>
            <a:p>
              <a:endParaRPr lang="en-IN" dirty="0"/>
            </a:p>
          </p:txBody>
        </p:sp>
        <p:sp>
          <p:nvSpPr>
            <p:cNvPr id="26" name="Shape 71">
              <a:extLst>
                <a:ext uri="{FF2B5EF4-FFF2-40B4-BE49-F238E27FC236}">
                  <a16:creationId xmlns:a16="http://schemas.microsoft.com/office/drawing/2014/main" id="{B3E4F210-4929-E052-216A-331171B4707C}"/>
                </a:ext>
              </a:extLst>
            </p:cNvPr>
            <p:cNvSpPr/>
            <p:nvPr/>
          </p:nvSpPr>
          <p:spPr>
            <a:xfrm>
              <a:off x="3585451" y="1274191"/>
              <a:ext cx="0" cy="2835084"/>
            </a:xfrm>
            <a:custGeom>
              <a:avLst/>
              <a:gdLst/>
              <a:ahLst/>
              <a:cxnLst/>
              <a:rect l="0" t="0" r="0" b="0"/>
              <a:pathLst>
                <a:path h="2835084">
                  <a:moveTo>
                    <a:pt x="0" y="0"/>
                  </a:moveTo>
                  <a:lnTo>
                    <a:pt x="0" y="2835084"/>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27" name="Shape 72">
              <a:extLst>
                <a:ext uri="{FF2B5EF4-FFF2-40B4-BE49-F238E27FC236}">
                  <a16:creationId xmlns:a16="http://schemas.microsoft.com/office/drawing/2014/main" id="{4DAB87F2-0FFE-40D4-D818-9EC06F4279E7}"/>
                </a:ext>
              </a:extLst>
            </p:cNvPr>
            <p:cNvSpPr/>
            <p:nvPr/>
          </p:nvSpPr>
          <p:spPr>
            <a:xfrm>
              <a:off x="813575" y="1685417"/>
              <a:ext cx="5543652" cy="0"/>
            </a:xfrm>
            <a:custGeom>
              <a:avLst/>
              <a:gdLst/>
              <a:ahLst/>
              <a:cxnLst/>
              <a:rect l="0" t="0" r="0" b="0"/>
              <a:pathLst>
                <a:path w="5543652">
                  <a:moveTo>
                    <a:pt x="0" y="0"/>
                  </a:moveTo>
                  <a:lnTo>
                    <a:pt x="5543652" y="0"/>
                  </a:lnTo>
                </a:path>
              </a:pathLst>
            </a:custGeom>
            <a:ln w="381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28" name="Shape 73">
              <a:extLst>
                <a:ext uri="{FF2B5EF4-FFF2-40B4-BE49-F238E27FC236}">
                  <a16:creationId xmlns:a16="http://schemas.microsoft.com/office/drawing/2014/main" id="{693FB575-84A9-9396-523B-17CAEE88960B}"/>
                </a:ext>
              </a:extLst>
            </p:cNvPr>
            <p:cNvSpPr/>
            <p:nvPr/>
          </p:nvSpPr>
          <p:spPr>
            <a:xfrm>
              <a:off x="813575" y="2120265"/>
              <a:ext cx="5543652" cy="0"/>
            </a:xfrm>
            <a:custGeom>
              <a:avLst/>
              <a:gdLst/>
              <a:ahLst/>
              <a:cxnLst/>
              <a:rect l="0" t="0" r="0" b="0"/>
              <a:pathLst>
                <a:path w="5543652">
                  <a:moveTo>
                    <a:pt x="0" y="0"/>
                  </a:moveTo>
                  <a:lnTo>
                    <a:pt x="5543652" y="0"/>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29" name="Shape 74">
              <a:extLst>
                <a:ext uri="{FF2B5EF4-FFF2-40B4-BE49-F238E27FC236}">
                  <a16:creationId xmlns:a16="http://schemas.microsoft.com/office/drawing/2014/main" id="{BA2DF5A8-2FCA-DA70-6892-C064FE411E45}"/>
                </a:ext>
              </a:extLst>
            </p:cNvPr>
            <p:cNvSpPr/>
            <p:nvPr/>
          </p:nvSpPr>
          <p:spPr>
            <a:xfrm>
              <a:off x="813575" y="2511552"/>
              <a:ext cx="5543652" cy="0"/>
            </a:xfrm>
            <a:custGeom>
              <a:avLst/>
              <a:gdLst/>
              <a:ahLst/>
              <a:cxnLst/>
              <a:rect l="0" t="0" r="0" b="0"/>
              <a:pathLst>
                <a:path w="5543652">
                  <a:moveTo>
                    <a:pt x="0" y="0"/>
                  </a:moveTo>
                  <a:lnTo>
                    <a:pt x="5543652" y="0"/>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30" name="Shape 75">
              <a:extLst>
                <a:ext uri="{FF2B5EF4-FFF2-40B4-BE49-F238E27FC236}">
                  <a16:creationId xmlns:a16="http://schemas.microsoft.com/office/drawing/2014/main" id="{92C02876-C4F8-1D06-1D09-39FA77207F59}"/>
                </a:ext>
              </a:extLst>
            </p:cNvPr>
            <p:cNvSpPr/>
            <p:nvPr/>
          </p:nvSpPr>
          <p:spPr>
            <a:xfrm>
              <a:off x="813575" y="2902839"/>
              <a:ext cx="5543652" cy="0"/>
            </a:xfrm>
            <a:custGeom>
              <a:avLst/>
              <a:gdLst/>
              <a:ahLst/>
              <a:cxnLst/>
              <a:rect l="0" t="0" r="0" b="0"/>
              <a:pathLst>
                <a:path w="5543652">
                  <a:moveTo>
                    <a:pt x="0" y="0"/>
                  </a:moveTo>
                  <a:lnTo>
                    <a:pt x="5543652" y="0"/>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31" name="Shape 76">
              <a:extLst>
                <a:ext uri="{FF2B5EF4-FFF2-40B4-BE49-F238E27FC236}">
                  <a16:creationId xmlns:a16="http://schemas.microsoft.com/office/drawing/2014/main" id="{775129CA-3BB1-2AA9-958E-2690FB73CE7C}"/>
                </a:ext>
              </a:extLst>
            </p:cNvPr>
            <p:cNvSpPr/>
            <p:nvPr/>
          </p:nvSpPr>
          <p:spPr>
            <a:xfrm>
              <a:off x="813575" y="3294126"/>
              <a:ext cx="5543652" cy="0"/>
            </a:xfrm>
            <a:custGeom>
              <a:avLst/>
              <a:gdLst/>
              <a:ahLst/>
              <a:cxnLst/>
              <a:rect l="0" t="0" r="0" b="0"/>
              <a:pathLst>
                <a:path w="5543652">
                  <a:moveTo>
                    <a:pt x="0" y="0"/>
                  </a:moveTo>
                  <a:lnTo>
                    <a:pt x="5543652" y="0"/>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32" name="Shape 77">
              <a:extLst>
                <a:ext uri="{FF2B5EF4-FFF2-40B4-BE49-F238E27FC236}">
                  <a16:creationId xmlns:a16="http://schemas.microsoft.com/office/drawing/2014/main" id="{F25837F9-6095-FB8E-BA1E-6A8D9FDBEAD6}"/>
                </a:ext>
              </a:extLst>
            </p:cNvPr>
            <p:cNvSpPr/>
            <p:nvPr/>
          </p:nvSpPr>
          <p:spPr>
            <a:xfrm>
              <a:off x="813575" y="3691446"/>
              <a:ext cx="5543652" cy="0"/>
            </a:xfrm>
            <a:custGeom>
              <a:avLst/>
              <a:gdLst/>
              <a:ahLst/>
              <a:cxnLst/>
              <a:rect l="0" t="0" r="0" b="0"/>
              <a:pathLst>
                <a:path w="5543652">
                  <a:moveTo>
                    <a:pt x="0" y="0"/>
                  </a:moveTo>
                  <a:lnTo>
                    <a:pt x="5543652" y="0"/>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33" name="Shape 78">
              <a:extLst>
                <a:ext uri="{FF2B5EF4-FFF2-40B4-BE49-F238E27FC236}">
                  <a16:creationId xmlns:a16="http://schemas.microsoft.com/office/drawing/2014/main" id="{D344E3DB-462A-4F1F-F170-9BA6A2C177A6}"/>
                </a:ext>
              </a:extLst>
            </p:cNvPr>
            <p:cNvSpPr/>
            <p:nvPr/>
          </p:nvSpPr>
          <p:spPr>
            <a:xfrm>
              <a:off x="819925" y="1274191"/>
              <a:ext cx="0" cy="2835084"/>
            </a:xfrm>
            <a:custGeom>
              <a:avLst/>
              <a:gdLst/>
              <a:ahLst/>
              <a:cxnLst/>
              <a:rect l="0" t="0" r="0" b="0"/>
              <a:pathLst>
                <a:path h="2835084">
                  <a:moveTo>
                    <a:pt x="0" y="0"/>
                  </a:moveTo>
                  <a:lnTo>
                    <a:pt x="0" y="2835084"/>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34" name="Shape 79">
              <a:extLst>
                <a:ext uri="{FF2B5EF4-FFF2-40B4-BE49-F238E27FC236}">
                  <a16:creationId xmlns:a16="http://schemas.microsoft.com/office/drawing/2014/main" id="{57450C42-4EFC-B47B-FE4F-0006CE9CE2C7}"/>
                </a:ext>
              </a:extLst>
            </p:cNvPr>
            <p:cNvSpPr/>
            <p:nvPr/>
          </p:nvSpPr>
          <p:spPr>
            <a:xfrm>
              <a:off x="6350877" y="1274191"/>
              <a:ext cx="0" cy="2835084"/>
            </a:xfrm>
            <a:custGeom>
              <a:avLst/>
              <a:gdLst/>
              <a:ahLst/>
              <a:cxnLst/>
              <a:rect l="0" t="0" r="0" b="0"/>
              <a:pathLst>
                <a:path h="2835084">
                  <a:moveTo>
                    <a:pt x="0" y="0"/>
                  </a:moveTo>
                  <a:lnTo>
                    <a:pt x="0" y="2835084"/>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35" name="Shape 80">
              <a:extLst>
                <a:ext uri="{FF2B5EF4-FFF2-40B4-BE49-F238E27FC236}">
                  <a16:creationId xmlns:a16="http://schemas.microsoft.com/office/drawing/2014/main" id="{3C4EEF6C-68D2-CD13-2410-984608CB166C}"/>
                </a:ext>
              </a:extLst>
            </p:cNvPr>
            <p:cNvSpPr/>
            <p:nvPr/>
          </p:nvSpPr>
          <p:spPr>
            <a:xfrm>
              <a:off x="813575" y="1280541"/>
              <a:ext cx="5543652" cy="0"/>
            </a:xfrm>
            <a:custGeom>
              <a:avLst/>
              <a:gdLst/>
              <a:ahLst/>
              <a:cxnLst/>
              <a:rect l="0" t="0" r="0" b="0"/>
              <a:pathLst>
                <a:path w="5543652">
                  <a:moveTo>
                    <a:pt x="0" y="0"/>
                  </a:moveTo>
                  <a:lnTo>
                    <a:pt x="5543652" y="0"/>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36" name="Shape 81">
              <a:extLst>
                <a:ext uri="{FF2B5EF4-FFF2-40B4-BE49-F238E27FC236}">
                  <a16:creationId xmlns:a16="http://schemas.microsoft.com/office/drawing/2014/main" id="{7B8D143E-81DF-1ED1-D971-92A4FD1C59DB}"/>
                </a:ext>
              </a:extLst>
            </p:cNvPr>
            <p:cNvSpPr/>
            <p:nvPr/>
          </p:nvSpPr>
          <p:spPr>
            <a:xfrm>
              <a:off x="813575" y="4102926"/>
              <a:ext cx="5543652" cy="0"/>
            </a:xfrm>
            <a:custGeom>
              <a:avLst/>
              <a:gdLst/>
              <a:ahLst/>
              <a:cxnLst/>
              <a:rect l="0" t="0" r="0" b="0"/>
              <a:pathLst>
                <a:path w="5543652">
                  <a:moveTo>
                    <a:pt x="0" y="0"/>
                  </a:moveTo>
                  <a:lnTo>
                    <a:pt x="5543652" y="0"/>
                  </a:lnTo>
                </a:path>
              </a:pathLst>
            </a:custGeom>
            <a:ln w="12700" cap="flat">
              <a:round/>
            </a:ln>
          </p:spPr>
          <p:style>
            <a:lnRef idx="1">
              <a:srgbClr val="E0E0E0"/>
            </a:lnRef>
            <a:fillRef idx="0">
              <a:srgbClr val="000000">
                <a:alpha val="0"/>
              </a:srgbClr>
            </a:fillRef>
            <a:effectRef idx="0">
              <a:scrgbClr r="0" g="0" b="0"/>
            </a:effectRef>
            <a:fontRef idx="none"/>
          </p:style>
          <p:txBody>
            <a:bodyPr/>
            <a:lstStyle/>
            <a:p>
              <a:endParaRPr lang="en-IN"/>
            </a:p>
          </p:txBody>
        </p:sp>
        <p:sp>
          <p:nvSpPr>
            <p:cNvPr id="37" name="Rectangle 36">
              <a:extLst>
                <a:ext uri="{FF2B5EF4-FFF2-40B4-BE49-F238E27FC236}">
                  <a16:creationId xmlns:a16="http://schemas.microsoft.com/office/drawing/2014/main" id="{80EDD10C-4BEA-5AAA-602A-41B4CBB86483}"/>
                </a:ext>
              </a:extLst>
            </p:cNvPr>
            <p:cNvSpPr/>
            <p:nvPr/>
          </p:nvSpPr>
          <p:spPr>
            <a:xfrm>
              <a:off x="911593" y="1371727"/>
              <a:ext cx="1161425" cy="309679"/>
            </a:xfrm>
            <a:prstGeom prst="rect">
              <a:avLst/>
            </a:prstGeom>
            <a:ln>
              <a:noFill/>
            </a:ln>
          </p:spPr>
          <p:txBody>
            <a:bodyPr vert="horz" lIns="0" tIns="0" rIns="0" bIns="0" rtlCol="0">
              <a:noAutofit/>
            </a:bodyPr>
            <a:lstStyle/>
            <a:p>
              <a:pPr>
                <a:lnSpc>
                  <a:spcPct val="107000"/>
                </a:lnSpc>
                <a:spcAft>
                  <a:spcPts val="800"/>
                </a:spcAft>
              </a:pPr>
              <a:r>
                <a:rPr lang="en-IN" sz="2400" kern="100" dirty="0">
                  <a:solidFill>
                    <a:srgbClr val="0E2141"/>
                  </a:solidFill>
                  <a:effectLst/>
                  <a:latin typeface="Calibri" panose="020F0502020204030204" pitchFamily="34" charset="0"/>
                  <a:ea typeface="Calibri" panose="020F0502020204030204" pitchFamily="34" charset="0"/>
                </a:rPr>
                <a:t>Materials</a:t>
              </a:r>
              <a:endParaRPr lang="en-IN" sz="1400" kern="100" dirty="0">
                <a:solidFill>
                  <a:srgbClr val="000000"/>
                </a:solidFill>
                <a:effectLst/>
                <a:latin typeface="Calibri" panose="020F0502020204030204" pitchFamily="34" charset="0"/>
                <a:ea typeface="Calibri" panose="020F0502020204030204" pitchFamily="34" charset="0"/>
              </a:endParaRPr>
            </a:p>
          </p:txBody>
        </p:sp>
        <p:sp>
          <p:nvSpPr>
            <p:cNvPr id="38" name="Rectangle 37">
              <a:extLst>
                <a:ext uri="{FF2B5EF4-FFF2-40B4-BE49-F238E27FC236}">
                  <a16:creationId xmlns:a16="http://schemas.microsoft.com/office/drawing/2014/main" id="{A65AABCB-63F8-06C8-E192-6F291AF2EF80}"/>
                </a:ext>
              </a:extLst>
            </p:cNvPr>
            <p:cNvSpPr/>
            <p:nvPr/>
          </p:nvSpPr>
          <p:spPr>
            <a:xfrm>
              <a:off x="3677654" y="1342390"/>
              <a:ext cx="1131325" cy="339002"/>
            </a:xfrm>
            <a:prstGeom prst="rect">
              <a:avLst/>
            </a:prstGeom>
            <a:ln>
              <a:noFill/>
            </a:ln>
          </p:spPr>
          <p:txBody>
            <a:bodyPr vert="horz" lIns="0" tIns="0" rIns="0" bIns="0" rtlCol="0">
              <a:noAutofit/>
            </a:bodyPr>
            <a:lstStyle/>
            <a:p>
              <a:pPr>
                <a:lnSpc>
                  <a:spcPct val="107000"/>
                </a:lnSpc>
                <a:spcAft>
                  <a:spcPts val="800"/>
                </a:spcAft>
              </a:pPr>
              <a:r>
                <a:rPr lang="en-IN" sz="2400" kern="100" dirty="0">
                  <a:solidFill>
                    <a:srgbClr val="0E2141"/>
                  </a:solidFill>
                  <a:effectLst/>
                  <a:latin typeface="Arial" panose="020B0604020202020204" pitchFamily="34" charset="0"/>
                  <a:ea typeface="Arial" panose="020B0604020202020204" pitchFamily="34" charset="0"/>
                </a:rPr>
                <a:t>Quantity</a:t>
              </a:r>
              <a:endParaRPr lang="en-IN" sz="1100" kern="100" dirty="0">
                <a:solidFill>
                  <a:srgbClr val="000000"/>
                </a:solidFill>
                <a:effectLst/>
                <a:latin typeface="Calibri" panose="020F0502020204030204" pitchFamily="34" charset="0"/>
                <a:ea typeface="Calibri" panose="020F0502020204030204" pitchFamily="34" charset="0"/>
              </a:endParaRPr>
            </a:p>
          </p:txBody>
        </p:sp>
        <p:sp>
          <p:nvSpPr>
            <p:cNvPr id="39" name="Rectangle 38">
              <a:extLst>
                <a:ext uri="{FF2B5EF4-FFF2-40B4-BE49-F238E27FC236}">
                  <a16:creationId xmlns:a16="http://schemas.microsoft.com/office/drawing/2014/main" id="{3F070361-87BC-8C8F-23B0-BA38250D678C}"/>
                </a:ext>
              </a:extLst>
            </p:cNvPr>
            <p:cNvSpPr/>
            <p:nvPr/>
          </p:nvSpPr>
          <p:spPr>
            <a:xfrm>
              <a:off x="911593" y="1721976"/>
              <a:ext cx="2557990" cy="217383"/>
            </a:xfrm>
            <a:prstGeom prst="rect">
              <a:avLst/>
            </a:prstGeom>
            <a:ln>
              <a:noFill/>
            </a:ln>
          </p:spPr>
          <p:txBody>
            <a:bodyPr vert="horz" lIns="0" tIns="0" rIns="0" bIns="0" rtlCol="0">
              <a:noAutofit/>
            </a:bodyPr>
            <a:lstStyle/>
            <a:p>
              <a:pPr>
                <a:lnSpc>
                  <a:spcPct val="107000"/>
                </a:lnSpc>
                <a:spcAft>
                  <a:spcPts val="800"/>
                </a:spcAft>
              </a:pPr>
              <a:r>
                <a:rPr lang="en-IN" sz="1600" b="1" kern="100" dirty="0">
                  <a:solidFill>
                    <a:srgbClr val="0E2141"/>
                  </a:solidFill>
                  <a:effectLst/>
                  <a:latin typeface="Calibri" panose="020F0502020204030204" pitchFamily="34" charset="0"/>
                  <a:ea typeface="Calibri" panose="020F0502020204030204" pitchFamily="34" charset="0"/>
                </a:rPr>
                <a:t>Piezoelectric transducers 27mmx6 </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40" name="Rectangle 39">
              <a:extLst>
                <a:ext uri="{FF2B5EF4-FFF2-40B4-BE49-F238E27FC236}">
                  <a16:creationId xmlns:a16="http://schemas.microsoft.com/office/drawing/2014/main" id="{7E67752C-CACE-D1C0-8B80-C951687319C3}"/>
                </a:ext>
              </a:extLst>
            </p:cNvPr>
            <p:cNvSpPr/>
            <p:nvPr/>
          </p:nvSpPr>
          <p:spPr>
            <a:xfrm>
              <a:off x="3677654" y="1739941"/>
              <a:ext cx="99200" cy="198881"/>
            </a:xfrm>
            <a:prstGeom prst="rect">
              <a:avLst/>
            </a:prstGeom>
            <a:ln>
              <a:noFill/>
            </a:ln>
          </p:spPr>
          <p:txBody>
            <a:bodyPr vert="horz" lIns="0" tIns="0" rIns="0" bIns="0" rtlCol="0">
              <a:noAutofit/>
            </a:bodyPr>
            <a:lstStyle/>
            <a:p>
              <a:pPr>
                <a:lnSpc>
                  <a:spcPct val="107000"/>
                </a:lnSpc>
                <a:spcAft>
                  <a:spcPts val="800"/>
                </a:spcAft>
              </a:pPr>
              <a:r>
                <a:rPr lang="en-IN" kern="100" dirty="0">
                  <a:solidFill>
                    <a:srgbClr val="0E2141"/>
                  </a:solidFill>
                  <a:effectLst/>
                  <a:latin typeface="Arial" panose="020B0604020202020204" pitchFamily="34" charset="0"/>
                  <a:ea typeface="Arial" panose="020B0604020202020204" pitchFamily="34" charset="0"/>
                </a:rPr>
                <a:t>6</a:t>
              </a:r>
              <a:endParaRPr lang="en-IN" sz="2000" kern="100" dirty="0">
                <a:solidFill>
                  <a:srgbClr val="000000"/>
                </a:solidFill>
                <a:effectLst/>
                <a:latin typeface="Calibri" panose="020F0502020204030204" pitchFamily="34" charset="0"/>
                <a:ea typeface="Calibri" panose="020F0502020204030204" pitchFamily="34" charset="0"/>
              </a:endParaRPr>
            </a:p>
          </p:txBody>
        </p:sp>
        <p:sp>
          <p:nvSpPr>
            <p:cNvPr id="41" name="Rectangle 40">
              <a:extLst>
                <a:ext uri="{FF2B5EF4-FFF2-40B4-BE49-F238E27FC236}">
                  <a16:creationId xmlns:a16="http://schemas.microsoft.com/office/drawing/2014/main" id="{B06FE226-CEB6-4ADF-BF08-F9E73A8D8340}"/>
                </a:ext>
              </a:extLst>
            </p:cNvPr>
            <p:cNvSpPr/>
            <p:nvPr/>
          </p:nvSpPr>
          <p:spPr>
            <a:xfrm>
              <a:off x="911593" y="2174916"/>
              <a:ext cx="99200" cy="198881"/>
            </a:xfrm>
            <a:prstGeom prst="rect">
              <a:avLst/>
            </a:prstGeom>
            <a:ln>
              <a:noFill/>
            </a:ln>
          </p:spPr>
          <p:txBody>
            <a:bodyPr vert="horz" lIns="0" tIns="0" rIns="0" bIns="0" rtlCol="0">
              <a:noAutofit/>
            </a:bodyPr>
            <a:lstStyle/>
            <a:p>
              <a:pPr>
                <a:lnSpc>
                  <a:spcPct val="107000"/>
                </a:lnSpc>
                <a:spcAft>
                  <a:spcPts val="800"/>
                </a:spcAft>
              </a:pPr>
              <a:r>
                <a:rPr lang="en-IN" sz="1050" kern="100">
                  <a:solidFill>
                    <a:srgbClr val="0E2141"/>
                  </a:solidFill>
                  <a:effectLst/>
                  <a:latin typeface="Arial" panose="020B0604020202020204" pitchFamily="34" charset="0"/>
                  <a:ea typeface="Arial" panose="020B0604020202020204" pitchFamily="34" charset="0"/>
                </a:rPr>
                <a:t>1</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42" name="Rectangle 41">
              <a:extLst>
                <a:ext uri="{FF2B5EF4-FFF2-40B4-BE49-F238E27FC236}">
                  <a16:creationId xmlns:a16="http://schemas.microsoft.com/office/drawing/2014/main" id="{55CA2B55-94E0-E8D6-88C3-714730B5752B}"/>
                </a:ext>
              </a:extLst>
            </p:cNvPr>
            <p:cNvSpPr/>
            <p:nvPr/>
          </p:nvSpPr>
          <p:spPr>
            <a:xfrm>
              <a:off x="986160" y="2174916"/>
              <a:ext cx="1040632" cy="198881"/>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N4007 Diode</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43" name="Rectangle 42">
              <a:extLst>
                <a:ext uri="{FF2B5EF4-FFF2-40B4-BE49-F238E27FC236}">
                  <a16:creationId xmlns:a16="http://schemas.microsoft.com/office/drawing/2014/main" id="{E51C8017-6B1D-FE5E-A65B-8511A4DB2B6C}"/>
                </a:ext>
              </a:extLst>
            </p:cNvPr>
            <p:cNvSpPr/>
            <p:nvPr/>
          </p:nvSpPr>
          <p:spPr>
            <a:xfrm>
              <a:off x="3677654" y="2174916"/>
              <a:ext cx="99200" cy="198881"/>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8</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44" name="Rectangle 43">
              <a:extLst>
                <a:ext uri="{FF2B5EF4-FFF2-40B4-BE49-F238E27FC236}">
                  <a16:creationId xmlns:a16="http://schemas.microsoft.com/office/drawing/2014/main" id="{854E2D3D-835E-819E-3895-73CF931C265D}"/>
                </a:ext>
              </a:extLst>
            </p:cNvPr>
            <p:cNvSpPr/>
            <p:nvPr/>
          </p:nvSpPr>
          <p:spPr>
            <a:xfrm>
              <a:off x="911593" y="2566330"/>
              <a:ext cx="247247" cy="198881"/>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3.7</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45" name="Rectangle 44">
              <a:extLst>
                <a:ext uri="{FF2B5EF4-FFF2-40B4-BE49-F238E27FC236}">
                  <a16:creationId xmlns:a16="http://schemas.microsoft.com/office/drawing/2014/main" id="{F9271890-E7D2-403B-23FA-630712B08A48}"/>
                </a:ext>
              </a:extLst>
            </p:cNvPr>
            <p:cNvSpPr/>
            <p:nvPr/>
          </p:nvSpPr>
          <p:spPr>
            <a:xfrm>
              <a:off x="1097473" y="2566330"/>
              <a:ext cx="304863" cy="198881"/>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V Li</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46" name="Rectangle 45">
              <a:extLst>
                <a:ext uri="{FF2B5EF4-FFF2-40B4-BE49-F238E27FC236}">
                  <a16:creationId xmlns:a16="http://schemas.microsoft.com/office/drawing/2014/main" id="{504B1D52-4826-FF71-C0CB-94102344C091}"/>
                </a:ext>
              </a:extLst>
            </p:cNvPr>
            <p:cNvSpPr/>
            <p:nvPr/>
          </p:nvSpPr>
          <p:spPr>
            <a:xfrm>
              <a:off x="1327645" y="2566330"/>
              <a:ext cx="59398" cy="198881"/>
            </a:xfrm>
            <a:prstGeom prst="rect">
              <a:avLst/>
            </a:prstGeom>
            <a:ln>
              <a:noFill/>
            </a:ln>
          </p:spPr>
          <p:txBody>
            <a:bodyPr vert="horz" lIns="0" tIns="0" rIns="0" bIns="0" rtlCol="0">
              <a:noAutofit/>
            </a:bodyPr>
            <a:lstStyle/>
            <a:p>
              <a:pPr>
                <a:lnSpc>
                  <a:spcPct val="107000"/>
                </a:lnSpc>
                <a:spcAft>
                  <a:spcPts val="800"/>
                </a:spcAft>
              </a:pPr>
              <a:r>
                <a:rPr lang="en-IN" sz="1050" kern="100">
                  <a:solidFill>
                    <a:srgbClr val="0E2141"/>
                  </a:solidFill>
                  <a:effectLst/>
                  <a:latin typeface="Arial" panose="020B0604020202020204" pitchFamily="34" charset="0"/>
                  <a:ea typeface="Arial" panose="020B0604020202020204" pitchFamily="34" charset="0"/>
                </a:rPr>
                <a:t>-</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47" name="Rectangle 46">
              <a:extLst>
                <a:ext uri="{FF2B5EF4-FFF2-40B4-BE49-F238E27FC236}">
                  <a16:creationId xmlns:a16="http://schemas.microsoft.com/office/drawing/2014/main" id="{29DA13FE-8E0E-0745-3639-23319F2941D4}"/>
                </a:ext>
              </a:extLst>
            </p:cNvPr>
            <p:cNvSpPr/>
            <p:nvPr/>
          </p:nvSpPr>
          <p:spPr>
            <a:xfrm>
              <a:off x="1371841" y="2566330"/>
              <a:ext cx="831199" cy="198881"/>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ion battery</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48" name="Rectangle 47">
              <a:extLst>
                <a:ext uri="{FF2B5EF4-FFF2-40B4-BE49-F238E27FC236}">
                  <a16:creationId xmlns:a16="http://schemas.microsoft.com/office/drawing/2014/main" id="{9557FC74-71F5-E256-CFB6-4126385269F5}"/>
                </a:ext>
              </a:extLst>
            </p:cNvPr>
            <p:cNvSpPr/>
            <p:nvPr/>
          </p:nvSpPr>
          <p:spPr>
            <a:xfrm>
              <a:off x="3677654" y="2566330"/>
              <a:ext cx="99200" cy="198881"/>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1</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49" name="Rectangle 48">
              <a:extLst>
                <a:ext uri="{FF2B5EF4-FFF2-40B4-BE49-F238E27FC236}">
                  <a16:creationId xmlns:a16="http://schemas.microsoft.com/office/drawing/2014/main" id="{2CBBA92C-CDBB-83C2-490D-F5FA8F605099}"/>
                </a:ext>
              </a:extLst>
            </p:cNvPr>
            <p:cNvSpPr/>
            <p:nvPr/>
          </p:nvSpPr>
          <p:spPr>
            <a:xfrm>
              <a:off x="911593" y="2975356"/>
              <a:ext cx="1106244" cy="181678"/>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Calibri" panose="020F0502020204030204" pitchFamily="34" charset="0"/>
                  <a:ea typeface="Calibri" panose="020F0502020204030204" pitchFamily="34" charset="0"/>
                </a:rPr>
                <a:t>USB connector </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50" name="Rectangle 49">
              <a:extLst>
                <a:ext uri="{FF2B5EF4-FFF2-40B4-BE49-F238E27FC236}">
                  <a16:creationId xmlns:a16="http://schemas.microsoft.com/office/drawing/2014/main" id="{DAE57512-DD9E-7EE4-9677-D8C802BB382A}"/>
                </a:ext>
              </a:extLst>
            </p:cNvPr>
            <p:cNvSpPr/>
            <p:nvPr/>
          </p:nvSpPr>
          <p:spPr>
            <a:xfrm>
              <a:off x="3677654" y="2957617"/>
              <a:ext cx="99200" cy="198881"/>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1</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51" name="Rectangle 50">
              <a:extLst>
                <a:ext uri="{FF2B5EF4-FFF2-40B4-BE49-F238E27FC236}">
                  <a16:creationId xmlns:a16="http://schemas.microsoft.com/office/drawing/2014/main" id="{3AE58021-778E-A5CF-18AC-F6BE49B01D33}"/>
                </a:ext>
              </a:extLst>
            </p:cNvPr>
            <p:cNvSpPr/>
            <p:nvPr/>
          </p:nvSpPr>
          <p:spPr>
            <a:xfrm>
              <a:off x="911593" y="3366770"/>
              <a:ext cx="1282473" cy="181679"/>
            </a:xfrm>
            <a:prstGeom prst="rect">
              <a:avLst/>
            </a:prstGeom>
            <a:ln>
              <a:noFill/>
            </a:ln>
          </p:spPr>
          <p:txBody>
            <a:bodyPr vert="horz" lIns="0" tIns="0" rIns="0" bIns="0" rtlCol="0">
              <a:noAutofit/>
            </a:bodyPr>
            <a:lstStyle/>
            <a:p>
              <a:pPr>
                <a:lnSpc>
                  <a:spcPct val="107000"/>
                </a:lnSpc>
                <a:spcAft>
                  <a:spcPts val="800"/>
                </a:spcAft>
              </a:pPr>
              <a:r>
                <a:rPr lang="en-IN" kern="100" dirty="0">
                  <a:solidFill>
                    <a:srgbClr val="0E2141"/>
                  </a:solidFill>
                  <a:effectLst/>
                  <a:latin typeface="Calibri" panose="020F0502020204030204" pitchFamily="34" charset="0"/>
                  <a:ea typeface="Calibri" panose="020F0502020204030204" pitchFamily="34" charset="0"/>
                </a:rPr>
                <a:t>Connecting wires </a:t>
              </a:r>
              <a:endParaRPr lang="en-IN" sz="2000" kern="100" dirty="0">
                <a:solidFill>
                  <a:srgbClr val="000000"/>
                </a:solidFill>
                <a:effectLst/>
                <a:latin typeface="Calibri" panose="020F0502020204030204" pitchFamily="34" charset="0"/>
                <a:ea typeface="Calibri" panose="020F0502020204030204" pitchFamily="34" charset="0"/>
              </a:endParaRPr>
            </a:p>
          </p:txBody>
        </p:sp>
        <p:sp>
          <p:nvSpPr>
            <p:cNvPr id="52" name="Rectangle 51">
              <a:extLst>
                <a:ext uri="{FF2B5EF4-FFF2-40B4-BE49-F238E27FC236}">
                  <a16:creationId xmlns:a16="http://schemas.microsoft.com/office/drawing/2014/main" id="{216D99A9-82FF-75EA-01EF-6AAB50914AF5}"/>
                </a:ext>
              </a:extLst>
            </p:cNvPr>
            <p:cNvSpPr/>
            <p:nvPr/>
          </p:nvSpPr>
          <p:spPr>
            <a:xfrm>
              <a:off x="3677654" y="3349031"/>
              <a:ext cx="725070" cy="198881"/>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Required</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53" name="Rectangle 52">
              <a:extLst>
                <a:ext uri="{FF2B5EF4-FFF2-40B4-BE49-F238E27FC236}">
                  <a16:creationId xmlns:a16="http://schemas.microsoft.com/office/drawing/2014/main" id="{C0AF900D-C946-C466-FA76-0C082987BA6F}"/>
                </a:ext>
              </a:extLst>
            </p:cNvPr>
            <p:cNvSpPr/>
            <p:nvPr/>
          </p:nvSpPr>
          <p:spPr>
            <a:xfrm>
              <a:off x="911593" y="3746490"/>
              <a:ext cx="1250545" cy="198882"/>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Shoes(optional)</a:t>
              </a:r>
              <a:endParaRPr lang="en-IN" kern="100" dirty="0">
                <a:solidFill>
                  <a:srgbClr val="000000"/>
                </a:solidFill>
                <a:effectLst/>
                <a:latin typeface="Calibri" panose="020F0502020204030204" pitchFamily="34" charset="0"/>
                <a:ea typeface="Calibri" panose="020F0502020204030204" pitchFamily="34" charset="0"/>
              </a:endParaRPr>
            </a:p>
          </p:txBody>
        </p:sp>
        <p:sp>
          <p:nvSpPr>
            <p:cNvPr id="54" name="Rectangle 53">
              <a:extLst>
                <a:ext uri="{FF2B5EF4-FFF2-40B4-BE49-F238E27FC236}">
                  <a16:creationId xmlns:a16="http://schemas.microsoft.com/office/drawing/2014/main" id="{0053D843-3165-EA8B-06BC-8E436102C471}"/>
                </a:ext>
              </a:extLst>
            </p:cNvPr>
            <p:cNvSpPr/>
            <p:nvPr/>
          </p:nvSpPr>
          <p:spPr>
            <a:xfrm>
              <a:off x="3677654" y="3746490"/>
              <a:ext cx="99200" cy="198882"/>
            </a:xfrm>
            <a:prstGeom prst="rect">
              <a:avLst/>
            </a:prstGeom>
            <a:ln>
              <a:noFill/>
            </a:ln>
          </p:spPr>
          <p:txBody>
            <a:bodyPr vert="horz" lIns="0" tIns="0" rIns="0" bIns="0" rtlCol="0">
              <a:noAutofit/>
            </a:bodyPr>
            <a:lstStyle/>
            <a:p>
              <a:pPr>
                <a:lnSpc>
                  <a:spcPct val="107000"/>
                </a:lnSpc>
                <a:spcAft>
                  <a:spcPts val="800"/>
                </a:spcAft>
              </a:pPr>
              <a:r>
                <a:rPr lang="en-IN" sz="1600" kern="100" dirty="0">
                  <a:solidFill>
                    <a:srgbClr val="0E2141"/>
                  </a:solidFill>
                  <a:effectLst/>
                  <a:latin typeface="Arial" panose="020B0604020202020204" pitchFamily="34" charset="0"/>
                  <a:ea typeface="Arial" panose="020B0604020202020204" pitchFamily="34" charset="0"/>
                </a:rPr>
                <a:t>1</a:t>
              </a:r>
              <a:endParaRPr lang="en-IN" kern="100" dirty="0">
                <a:solidFill>
                  <a:srgbClr val="000000"/>
                </a:solidFill>
                <a:effectLst/>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2281421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753979" y="593558"/>
            <a:ext cx="6304547" cy="1138990"/>
          </a:xfrm>
        </p:spPr>
        <p:txBody>
          <a:bodyPr/>
          <a:lstStyle/>
          <a:p>
            <a:pPr algn="ctr"/>
            <a:r>
              <a:rPr lang="en-IN" sz="3200" kern="100" dirty="0">
                <a:solidFill>
                  <a:srgbClr val="0E2141"/>
                </a:solidFill>
                <a:effectLst/>
                <a:latin typeface="Arial" panose="020B0604020202020204" pitchFamily="34" charset="0"/>
                <a:ea typeface="Arial" panose="020B0604020202020204" pitchFamily="34" charset="0"/>
              </a:rPr>
              <a:t>PIEZOELECTRIC SENSEORS</a:t>
            </a:r>
            <a:br>
              <a:rPr lang="en-IN" sz="2000" kern="100" dirty="0">
                <a:solidFill>
                  <a:srgbClr val="000000"/>
                </a:solidFill>
                <a:effectLst/>
                <a:latin typeface="Calibri" panose="020F0502020204030204" pitchFamily="34" charset="0"/>
                <a:ea typeface="Calibri" panose="020F0502020204030204" pitchFamily="34" charset="0"/>
              </a:rPr>
            </a:br>
            <a:endParaRPr lang="en-US" sz="3200" dirty="0"/>
          </a:p>
        </p:txBody>
      </p:sp>
      <p:sp>
        <p:nvSpPr>
          <p:cNvPr id="13" name="Content Placeholder 12">
            <a:extLst>
              <a:ext uri="{FF2B5EF4-FFF2-40B4-BE49-F238E27FC236}">
                <a16:creationId xmlns:a16="http://schemas.microsoft.com/office/drawing/2014/main" id="{5B2964AB-BA96-B445-C69F-3913DDD4B342}"/>
              </a:ext>
            </a:extLst>
          </p:cNvPr>
          <p:cNvSpPr>
            <a:spLocks noGrp="1"/>
          </p:cNvSpPr>
          <p:nvPr>
            <p:ph idx="1"/>
          </p:nvPr>
        </p:nvSpPr>
        <p:spPr>
          <a:xfrm>
            <a:off x="914399" y="1933074"/>
            <a:ext cx="6144127" cy="4331368"/>
          </a:xfrm>
        </p:spPr>
        <p:txBody>
          <a:bodyPr>
            <a:normAutofit fontScale="85000" lnSpcReduction="20000"/>
          </a:bodyPr>
          <a:lstStyle/>
          <a:p>
            <a:pPr indent="0">
              <a:lnSpc>
                <a:spcPct val="100000"/>
              </a:lnSpc>
              <a:spcAft>
                <a:spcPts val="1599"/>
              </a:spcAft>
              <a:buNone/>
              <a:tabLst>
                <a:tab pos="0" algn="l"/>
              </a:tabLst>
            </a:pPr>
            <a:r>
              <a:rPr lang="en-US" sz="2400" b="0" strike="noStrike" spc="-1" dirty="0">
                <a:solidFill>
                  <a:schemeClr val="dk1"/>
                </a:solidFill>
                <a:latin typeface="Figtree"/>
                <a:ea typeface="Figtree"/>
              </a:rPr>
              <a:t>A piezoelectric sensor is a device that generates an electrical charge in response to applied mechanical stress. It utilizes the piezoelectric effect, where certain materials (such as quartz, ceramics, or polymers) produce voltage when subjected to pressure, vibration, or strain.</a:t>
            </a:r>
          </a:p>
          <a:p>
            <a:pPr indent="0" algn="ctr">
              <a:lnSpc>
                <a:spcPct val="100000"/>
              </a:lnSpc>
              <a:spcAft>
                <a:spcPts val="1599"/>
              </a:spcAft>
              <a:buNone/>
              <a:tabLst>
                <a:tab pos="0" algn="l"/>
              </a:tabLst>
            </a:pPr>
            <a:r>
              <a:rPr lang="en-US" sz="2800" b="1" u="sng" spc="-1" dirty="0">
                <a:solidFill>
                  <a:schemeClr val="dk1"/>
                </a:solidFill>
                <a:latin typeface="Figtree"/>
              </a:rPr>
              <a:t>Working Principle of Piezoelectric Sensors</a:t>
            </a:r>
          </a:p>
          <a:p>
            <a:pPr marL="571500" indent="-342900">
              <a:lnSpc>
                <a:spcPct val="100000"/>
              </a:lnSpc>
              <a:spcAft>
                <a:spcPts val="1599"/>
              </a:spcAft>
              <a:buAutoNum type="arabicPeriod"/>
              <a:tabLst>
                <a:tab pos="0" algn="l"/>
              </a:tabLst>
            </a:pPr>
            <a:r>
              <a:rPr lang="en-US" sz="2400" spc="-1" dirty="0">
                <a:solidFill>
                  <a:schemeClr val="dk1"/>
                </a:solidFill>
                <a:latin typeface="Figtree"/>
              </a:rPr>
              <a:t>Mechanical Force Applied: External pressure, vibration, or strain is applied to the sensor.</a:t>
            </a:r>
          </a:p>
          <a:p>
            <a:pPr marL="571500" indent="-342900">
              <a:lnSpc>
                <a:spcPct val="100000"/>
              </a:lnSpc>
              <a:spcAft>
                <a:spcPts val="1599"/>
              </a:spcAft>
              <a:buFont typeface="+mj-lt"/>
              <a:buAutoNum type="arabicPeriod"/>
              <a:tabLst>
                <a:tab pos="0" algn="l"/>
              </a:tabLst>
            </a:pPr>
            <a:r>
              <a:rPr lang="en-US" sz="2400" spc="-1" dirty="0">
                <a:solidFill>
                  <a:schemeClr val="dk1"/>
                </a:solidFill>
                <a:latin typeface="Figtree"/>
              </a:rPr>
              <a:t> Piezoelectric Effect: The piezoelectric material inside the sensor converts the mechanical force into an electrical charge.</a:t>
            </a:r>
          </a:p>
          <a:p>
            <a:pPr marL="571500" indent="-342900">
              <a:lnSpc>
                <a:spcPct val="100000"/>
              </a:lnSpc>
              <a:spcAft>
                <a:spcPts val="1599"/>
              </a:spcAft>
              <a:buAutoNum type="arabicPeriod"/>
              <a:tabLst>
                <a:tab pos="0" algn="l"/>
              </a:tabLst>
            </a:pPr>
            <a:r>
              <a:rPr lang="en-US" sz="2400" spc="-1" dirty="0">
                <a:solidFill>
                  <a:schemeClr val="dk1"/>
                </a:solidFill>
                <a:latin typeface="Figtree"/>
              </a:rPr>
              <a:t> Signal Processing: The generated voltage is processed and used for measurement or control.</a:t>
            </a:r>
          </a:p>
          <a:p>
            <a:pPr algn="l">
              <a:buFont typeface="Arial" panose="020B0604020202020204" pitchFamily="34" charset="0"/>
              <a:buChar char="•"/>
            </a:pPr>
            <a:endParaRPr lang="en-IN" dirty="0"/>
          </a:p>
        </p:txBody>
      </p:sp>
      <p:pic>
        <p:nvPicPr>
          <p:cNvPr id="1030" name="Picture 6" descr="OMG! Smart shoes developed which generate power from walking - Oneindia News">
            <a:extLst>
              <a:ext uri="{FF2B5EF4-FFF2-40B4-BE49-F238E27FC236}">
                <a16:creationId xmlns:a16="http://schemas.microsoft.com/office/drawing/2014/main" id="{984AA9F9-878D-49DD-D3D0-A5615CC37D47}"/>
              </a:ext>
            </a:extLst>
          </p:cNvPr>
          <p:cNvPicPr>
            <a:picLocks noGrp="1" noChangeAspect="1" noChangeArrowheads="1"/>
          </p:cNvPicPr>
          <p:nvPr>
            <p:ph type="pic" sz="quarter" idx="11"/>
          </p:nvPr>
        </p:nvPicPr>
        <p:blipFill>
          <a:blip r:embed="rId3">
            <a:extLst>
              <a:ext uri="{28A0092B-C50C-407E-A947-70E740481C1C}">
                <a14:useLocalDpi xmlns:a14="http://schemas.microsoft.com/office/drawing/2010/main" val="0"/>
              </a:ext>
            </a:extLst>
          </a:blip>
          <a:srcRect l="24726" r="24726"/>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491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433111" y="816016"/>
            <a:ext cx="7026467" cy="1686551"/>
          </a:xfrm>
        </p:spPr>
        <p:txBody>
          <a:bodyPr/>
          <a:lstStyle/>
          <a:p>
            <a:r>
              <a:rPr lang="en-IN" sz="2800" dirty="0"/>
              <a:t>Applications of Piezoelectric Sensors</a:t>
            </a:r>
            <a:br>
              <a:rPr lang="en-IN" sz="3600" dirty="0"/>
            </a:br>
            <a:endParaRPr lang="en-US" dirty="0"/>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1894114"/>
            <a:ext cx="5259554" cy="4147869"/>
          </a:xfrm>
        </p:spPr>
        <p:txBody>
          <a:bodyPr>
            <a:normAutofit fontScale="92500"/>
          </a:bodyPr>
          <a:lstStyle/>
          <a:p>
            <a:pPr algn="l">
              <a:buFont typeface="Arial" panose="020B0604020202020204" pitchFamily="34" charset="0"/>
              <a:buChar char="•"/>
            </a:pPr>
            <a:endParaRPr lang="en-US" b="0" i="0" dirty="0">
              <a:solidFill>
                <a:srgbClr val="374151"/>
              </a:solidFill>
              <a:effectLst/>
              <a:latin typeface="__Inter_d65c78"/>
            </a:endParaRPr>
          </a:p>
          <a:p>
            <a:pPr marL="285750" indent="-285750">
              <a:buFont typeface="Arial" panose="020B0604020202020204" pitchFamily="34" charset="0"/>
              <a:buChar char="•"/>
            </a:pPr>
            <a:r>
              <a:rPr lang="en-IN" b="1" dirty="0"/>
              <a:t>Industrial</a:t>
            </a:r>
            <a:r>
              <a:rPr lang="en-IN" dirty="0"/>
              <a:t>: Vibration monitoring in machines, structural health</a:t>
            </a:r>
          </a:p>
          <a:p>
            <a:r>
              <a:rPr lang="en-IN" dirty="0"/>
              <a:t>                     monitoring.</a:t>
            </a:r>
          </a:p>
          <a:p>
            <a:pPr marL="285750" indent="-285750">
              <a:buFont typeface="Arial" panose="020B0604020202020204" pitchFamily="34" charset="0"/>
              <a:buChar char="•"/>
            </a:pPr>
            <a:r>
              <a:rPr lang="en-IN" b="1" dirty="0"/>
              <a:t>Medical</a:t>
            </a:r>
            <a:r>
              <a:rPr lang="en-IN" dirty="0"/>
              <a:t>: Ultrasonic imaging, heartbeat monitoring.</a:t>
            </a:r>
          </a:p>
          <a:p>
            <a:pPr marL="285750" indent="-285750">
              <a:buFont typeface="Arial" panose="020B0604020202020204" pitchFamily="34" charset="0"/>
              <a:buChar char="•"/>
            </a:pPr>
            <a:r>
              <a:rPr lang="en-IN" b="1" dirty="0"/>
              <a:t>Automotive</a:t>
            </a:r>
            <a:r>
              <a:rPr lang="en-IN" dirty="0"/>
              <a:t>: Knock sensors in engines, airbag deployment sensors.</a:t>
            </a:r>
          </a:p>
          <a:p>
            <a:pPr marL="285750" indent="-285750">
              <a:buFont typeface="Arial" panose="020B0604020202020204" pitchFamily="34" charset="0"/>
              <a:buChar char="•"/>
            </a:pPr>
            <a:r>
              <a:rPr lang="en-IN" b="1" dirty="0"/>
              <a:t>Consumer Electronics</a:t>
            </a:r>
            <a:r>
              <a:rPr lang="en-IN" dirty="0"/>
              <a:t>: Touchscreens, microphones, and speakers.</a:t>
            </a:r>
          </a:p>
          <a:p>
            <a:pPr marL="285750" indent="-285750">
              <a:buFont typeface="Arial" panose="020B0604020202020204" pitchFamily="34" charset="0"/>
              <a:buChar char="•"/>
            </a:pPr>
            <a:r>
              <a:rPr lang="en-IN" b="1" dirty="0"/>
              <a:t>Aerospace</a:t>
            </a:r>
            <a:r>
              <a:rPr lang="en-IN" dirty="0"/>
              <a:t>: Structural monitoring of aircraft components.</a:t>
            </a:r>
          </a:p>
          <a:p>
            <a:endParaRPr lang="en-US" dirty="0"/>
          </a:p>
        </p:txBody>
      </p:sp>
      <p:pic>
        <p:nvPicPr>
          <p:cNvPr id="2050" name="Picture 2" descr="Piezoelectricity - How does it work? | What is it used for?">
            <a:extLst>
              <a:ext uri="{FF2B5EF4-FFF2-40B4-BE49-F238E27FC236}">
                <a16:creationId xmlns:a16="http://schemas.microsoft.com/office/drawing/2014/main" id="{2E0ED600-A3E3-2488-658F-D0A6E47F5C9A}"/>
              </a:ext>
            </a:extLst>
          </p:cNvPr>
          <p:cNvPicPr>
            <a:picLocks noGrp="1" noChangeAspect="1" noChangeArrowheads="1"/>
          </p:cNvPicPr>
          <p:nvPr>
            <p:ph type="pic" sz="quarter" idx="11"/>
          </p:nvPr>
        </p:nvPicPr>
        <p:blipFill>
          <a:blip r:embed="rId3">
            <a:extLst>
              <a:ext uri="{28A0092B-C50C-407E-A947-70E740481C1C}">
                <a14:useLocalDpi xmlns:a14="http://schemas.microsoft.com/office/drawing/2010/main" val="0"/>
              </a:ext>
            </a:extLst>
          </a:blip>
          <a:srcRect l="16301" r="16301"/>
          <a:stretch>
            <a:fillRect/>
          </a:stretch>
        </p:blipFill>
        <p:spPr bwMode="auto">
          <a:xfrm>
            <a:off x="7625443" y="410780"/>
            <a:ext cx="4133446" cy="6202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923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555171"/>
            <a:ext cx="7965461" cy="1159329"/>
          </a:xfrm>
        </p:spPr>
        <p:txBody>
          <a:bodyPr/>
          <a:lstStyle/>
          <a:p>
            <a:r>
              <a:rPr lang="en-US" sz="3600">
                <a:latin typeface="Arial MT"/>
                <a:cs typeface="Arial MT"/>
              </a:rPr>
              <a:t>Over</a:t>
            </a:r>
            <a:r>
              <a:rPr lang="en-US" sz="3600" spc="-45">
                <a:latin typeface="Arial MT"/>
                <a:cs typeface="Arial MT"/>
              </a:rPr>
              <a:t> </a:t>
            </a:r>
            <a:r>
              <a:rPr lang="en-US" sz="3600">
                <a:latin typeface="Arial MT"/>
                <a:cs typeface="Arial MT"/>
              </a:rPr>
              <a:t>view</a:t>
            </a:r>
            <a:r>
              <a:rPr lang="en-US" sz="3600" spc="-20">
                <a:latin typeface="Arial MT"/>
                <a:cs typeface="Arial MT"/>
              </a:rPr>
              <a:t> </a:t>
            </a:r>
            <a:r>
              <a:rPr lang="en-US" sz="3600">
                <a:latin typeface="Arial MT"/>
                <a:cs typeface="Arial MT"/>
              </a:rPr>
              <a:t>of</a:t>
            </a:r>
            <a:r>
              <a:rPr lang="en-US" sz="3600" spc="-15">
                <a:latin typeface="Arial MT"/>
                <a:cs typeface="Arial MT"/>
              </a:rPr>
              <a:t> </a:t>
            </a:r>
            <a:r>
              <a:rPr lang="en-US" sz="3600">
                <a:latin typeface="Arial MT"/>
                <a:cs typeface="Arial MT"/>
              </a:rPr>
              <a:t>1N4007</a:t>
            </a:r>
            <a:r>
              <a:rPr lang="en-US" sz="3600" spc="-30">
                <a:latin typeface="Arial MT"/>
                <a:cs typeface="Arial MT"/>
              </a:rPr>
              <a:t> </a:t>
            </a:r>
            <a:r>
              <a:rPr lang="en-US" sz="3600" spc="-10">
                <a:latin typeface="Arial MT"/>
                <a:cs typeface="Arial MT"/>
              </a:rPr>
              <a:t>Diode</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051151" y="1870910"/>
            <a:ext cx="8503211" cy="5551714"/>
          </a:xfrm>
        </p:spPr>
        <p:txBody>
          <a:bodyPr>
            <a:normAutofit/>
          </a:bodyPr>
          <a:lstStyle/>
          <a:p>
            <a:pPr marL="12700" marR="5080">
              <a:lnSpc>
                <a:spcPct val="100000"/>
              </a:lnSpc>
              <a:spcBef>
                <a:spcPts val="100"/>
              </a:spcBef>
            </a:pPr>
            <a:r>
              <a:rPr lang="en-US" sz="2000" dirty="0">
                <a:solidFill>
                  <a:srgbClr val="0D2041"/>
                </a:solidFill>
                <a:latin typeface="Arial MT"/>
                <a:cs typeface="Arial MT"/>
              </a:rPr>
              <a:t>The</a:t>
            </a:r>
            <a:r>
              <a:rPr lang="en-US" sz="2000" spc="-50" dirty="0">
                <a:solidFill>
                  <a:srgbClr val="0D2041"/>
                </a:solidFill>
                <a:latin typeface="Arial MT"/>
                <a:cs typeface="Arial MT"/>
              </a:rPr>
              <a:t> </a:t>
            </a:r>
            <a:r>
              <a:rPr lang="en-US" sz="2000" dirty="0">
                <a:solidFill>
                  <a:srgbClr val="0D2041"/>
                </a:solidFill>
                <a:latin typeface="Arial MT"/>
                <a:cs typeface="Arial MT"/>
              </a:rPr>
              <a:t>1N4007</a:t>
            </a:r>
            <a:r>
              <a:rPr lang="en-US" sz="2000" spc="-10" dirty="0">
                <a:solidFill>
                  <a:srgbClr val="0D2041"/>
                </a:solidFill>
                <a:latin typeface="Arial MT"/>
                <a:cs typeface="Arial MT"/>
              </a:rPr>
              <a:t> </a:t>
            </a:r>
            <a:r>
              <a:rPr lang="en-US" sz="2000" dirty="0">
                <a:solidFill>
                  <a:srgbClr val="0D2041"/>
                </a:solidFill>
                <a:latin typeface="Arial MT"/>
                <a:cs typeface="Arial MT"/>
              </a:rPr>
              <a:t>is</a:t>
            </a:r>
            <a:r>
              <a:rPr lang="en-US" sz="2000" spc="-25" dirty="0">
                <a:solidFill>
                  <a:srgbClr val="0D2041"/>
                </a:solidFill>
                <a:latin typeface="Arial MT"/>
                <a:cs typeface="Arial MT"/>
              </a:rPr>
              <a:t> </a:t>
            </a:r>
            <a:r>
              <a:rPr lang="en-US" sz="2000" dirty="0">
                <a:solidFill>
                  <a:srgbClr val="0D2041"/>
                </a:solidFill>
                <a:latin typeface="Arial MT"/>
                <a:cs typeface="Arial MT"/>
              </a:rPr>
              <a:t>a</a:t>
            </a:r>
            <a:r>
              <a:rPr lang="en-US" sz="2000" spc="-25" dirty="0">
                <a:solidFill>
                  <a:srgbClr val="0D2041"/>
                </a:solidFill>
                <a:latin typeface="Arial MT"/>
                <a:cs typeface="Arial MT"/>
              </a:rPr>
              <a:t> </a:t>
            </a:r>
            <a:r>
              <a:rPr lang="en-US" sz="2000" dirty="0">
                <a:solidFill>
                  <a:srgbClr val="0D2041"/>
                </a:solidFill>
                <a:latin typeface="Arial MT"/>
                <a:cs typeface="Arial MT"/>
              </a:rPr>
              <a:t>commonly</a:t>
            </a:r>
            <a:r>
              <a:rPr lang="en-US" sz="2000" spc="-25" dirty="0">
                <a:solidFill>
                  <a:srgbClr val="0D2041"/>
                </a:solidFill>
                <a:latin typeface="Arial MT"/>
                <a:cs typeface="Arial MT"/>
              </a:rPr>
              <a:t> </a:t>
            </a:r>
            <a:r>
              <a:rPr lang="en-US" sz="2000" dirty="0">
                <a:solidFill>
                  <a:srgbClr val="0D2041"/>
                </a:solidFill>
                <a:latin typeface="Arial MT"/>
                <a:cs typeface="Arial MT"/>
              </a:rPr>
              <a:t>used</a:t>
            </a:r>
            <a:r>
              <a:rPr lang="en-US" sz="2000" spc="-25" dirty="0">
                <a:solidFill>
                  <a:srgbClr val="0D2041"/>
                </a:solidFill>
                <a:latin typeface="Arial MT"/>
                <a:cs typeface="Arial MT"/>
              </a:rPr>
              <a:t> </a:t>
            </a:r>
            <a:r>
              <a:rPr lang="en-US" sz="2000" dirty="0">
                <a:solidFill>
                  <a:srgbClr val="0D2041"/>
                </a:solidFill>
                <a:latin typeface="Arial MT"/>
                <a:cs typeface="Arial MT"/>
              </a:rPr>
              <a:t>rectifier</a:t>
            </a:r>
            <a:r>
              <a:rPr lang="en-US" sz="2000" spc="-20" dirty="0">
                <a:solidFill>
                  <a:srgbClr val="0D2041"/>
                </a:solidFill>
                <a:latin typeface="Arial MT"/>
                <a:cs typeface="Arial MT"/>
              </a:rPr>
              <a:t> </a:t>
            </a:r>
            <a:r>
              <a:rPr lang="en-US" sz="2000" dirty="0">
                <a:solidFill>
                  <a:srgbClr val="0D2041"/>
                </a:solidFill>
                <a:latin typeface="Arial MT"/>
                <a:cs typeface="Arial MT"/>
              </a:rPr>
              <a:t>diode</a:t>
            </a:r>
            <a:r>
              <a:rPr lang="en-US" sz="2000" spc="-25" dirty="0">
                <a:solidFill>
                  <a:srgbClr val="0D2041"/>
                </a:solidFill>
                <a:latin typeface="Arial MT"/>
                <a:cs typeface="Arial MT"/>
              </a:rPr>
              <a:t> </a:t>
            </a:r>
            <a:r>
              <a:rPr lang="en-US" sz="2000" dirty="0">
                <a:solidFill>
                  <a:srgbClr val="0D2041"/>
                </a:solidFill>
                <a:latin typeface="Arial MT"/>
                <a:cs typeface="Arial MT"/>
              </a:rPr>
              <a:t>in</a:t>
            </a:r>
            <a:r>
              <a:rPr lang="en-US" sz="2000" spc="-35" dirty="0">
                <a:solidFill>
                  <a:srgbClr val="0D2041"/>
                </a:solidFill>
                <a:latin typeface="Arial MT"/>
                <a:cs typeface="Arial MT"/>
              </a:rPr>
              <a:t> </a:t>
            </a:r>
            <a:r>
              <a:rPr lang="en-US" sz="2000" dirty="0">
                <a:solidFill>
                  <a:srgbClr val="0D2041"/>
                </a:solidFill>
                <a:latin typeface="Arial MT"/>
                <a:cs typeface="Arial MT"/>
              </a:rPr>
              <a:t>power</a:t>
            </a:r>
            <a:r>
              <a:rPr lang="en-US" sz="2000" spc="20" dirty="0">
                <a:solidFill>
                  <a:srgbClr val="0D2041"/>
                </a:solidFill>
                <a:latin typeface="Arial MT"/>
                <a:cs typeface="Arial MT"/>
              </a:rPr>
              <a:t> </a:t>
            </a:r>
            <a:r>
              <a:rPr lang="en-US" sz="2000" dirty="0">
                <a:solidFill>
                  <a:srgbClr val="0D2041"/>
                </a:solidFill>
                <a:latin typeface="Arial MT"/>
                <a:cs typeface="Arial MT"/>
              </a:rPr>
              <a:t>applications.</a:t>
            </a:r>
            <a:r>
              <a:rPr lang="en-US" sz="2000" spc="-5" dirty="0">
                <a:solidFill>
                  <a:srgbClr val="0D2041"/>
                </a:solidFill>
                <a:latin typeface="Arial MT"/>
                <a:cs typeface="Arial MT"/>
              </a:rPr>
              <a:t> </a:t>
            </a:r>
            <a:r>
              <a:rPr lang="en-US" sz="2000" spc="-20" dirty="0">
                <a:solidFill>
                  <a:srgbClr val="0D2041"/>
                </a:solidFill>
                <a:latin typeface="Arial MT"/>
                <a:cs typeface="Arial MT"/>
              </a:rPr>
              <a:t>Here </a:t>
            </a:r>
            <a:r>
              <a:rPr lang="en-US" sz="2000" dirty="0">
                <a:solidFill>
                  <a:srgbClr val="0D2041"/>
                </a:solidFill>
                <a:latin typeface="Arial MT"/>
                <a:cs typeface="Arial MT"/>
              </a:rPr>
              <a:t>are</a:t>
            </a:r>
            <a:r>
              <a:rPr lang="en-US" sz="2000" spc="-15" dirty="0">
                <a:solidFill>
                  <a:srgbClr val="0D2041"/>
                </a:solidFill>
                <a:latin typeface="Arial MT"/>
                <a:cs typeface="Arial MT"/>
              </a:rPr>
              <a:t> </a:t>
            </a:r>
            <a:r>
              <a:rPr lang="en-US" sz="2000" dirty="0">
                <a:solidFill>
                  <a:srgbClr val="0D2041"/>
                </a:solidFill>
                <a:latin typeface="Arial MT"/>
                <a:cs typeface="Arial MT"/>
              </a:rPr>
              <a:t>its key</a:t>
            </a:r>
            <a:r>
              <a:rPr lang="en-US" sz="2000" spc="-5" dirty="0">
                <a:solidFill>
                  <a:srgbClr val="0D2041"/>
                </a:solidFill>
                <a:latin typeface="Arial MT"/>
                <a:cs typeface="Arial MT"/>
              </a:rPr>
              <a:t> </a:t>
            </a:r>
            <a:r>
              <a:rPr lang="en-US" sz="2000" spc="-10" dirty="0">
                <a:solidFill>
                  <a:srgbClr val="0D2041"/>
                </a:solidFill>
                <a:latin typeface="Arial MT"/>
                <a:cs typeface="Arial MT"/>
              </a:rPr>
              <a:t>specifications:</a:t>
            </a:r>
            <a:endParaRPr lang="en-US" sz="2000" dirty="0">
              <a:latin typeface="Arial MT"/>
              <a:cs typeface="Arial MT"/>
            </a:endParaRPr>
          </a:p>
          <a:p>
            <a:pPr marL="12700" marR="3821429">
              <a:lnSpc>
                <a:spcPct val="100000"/>
              </a:lnSpc>
            </a:pPr>
            <a:r>
              <a:rPr lang="en-US" sz="2000" spc="-10" dirty="0">
                <a:solidFill>
                  <a:srgbClr val="0D2041"/>
                </a:solidFill>
                <a:latin typeface="Arial MT"/>
                <a:cs typeface="Arial MT"/>
              </a:rPr>
              <a:t>Type:</a:t>
            </a:r>
            <a:r>
              <a:rPr lang="en-US" sz="2000" spc="-35" dirty="0">
                <a:solidFill>
                  <a:srgbClr val="0D2041"/>
                </a:solidFill>
                <a:latin typeface="Arial MT"/>
                <a:cs typeface="Arial MT"/>
              </a:rPr>
              <a:t> </a:t>
            </a:r>
            <a:r>
              <a:rPr lang="en-US" sz="2000" spc="-10" dirty="0">
                <a:solidFill>
                  <a:srgbClr val="0D2041"/>
                </a:solidFill>
                <a:latin typeface="Arial MT"/>
                <a:cs typeface="Arial MT"/>
              </a:rPr>
              <a:t>General-</a:t>
            </a:r>
            <a:r>
              <a:rPr lang="en-US" sz="2000" dirty="0">
                <a:solidFill>
                  <a:srgbClr val="0D2041"/>
                </a:solidFill>
                <a:latin typeface="Arial MT"/>
                <a:cs typeface="Arial MT"/>
              </a:rPr>
              <a:t>purpose</a:t>
            </a:r>
            <a:r>
              <a:rPr lang="en-US" sz="2000" spc="-5" dirty="0">
                <a:solidFill>
                  <a:srgbClr val="0D2041"/>
                </a:solidFill>
                <a:latin typeface="Arial MT"/>
                <a:cs typeface="Arial MT"/>
              </a:rPr>
              <a:t> </a:t>
            </a:r>
            <a:r>
              <a:rPr lang="en-US" sz="2000" dirty="0">
                <a:solidFill>
                  <a:srgbClr val="0D2041"/>
                </a:solidFill>
                <a:latin typeface="Arial MT"/>
                <a:cs typeface="Arial MT"/>
              </a:rPr>
              <a:t>rectifier</a:t>
            </a:r>
            <a:r>
              <a:rPr lang="en-US" sz="2000" spc="-35" dirty="0">
                <a:solidFill>
                  <a:srgbClr val="0D2041"/>
                </a:solidFill>
                <a:latin typeface="Arial MT"/>
                <a:cs typeface="Arial MT"/>
              </a:rPr>
              <a:t> </a:t>
            </a:r>
            <a:r>
              <a:rPr lang="en-US" sz="2000" spc="-10" dirty="0">
                <a:solidFill>
                  <a:srgbClr val="0D2041"/>
                </a:solidFill>
                <a:latin typeface="Arial MT"/>
                <a:cs typeface="Arial MT"/>
              </a:rPr>
              <a:t>diode </a:t>
            </a:r>
            <a:r>
              <a:rPr lang="en-US" sz="2000" b="1" dirty="0">
                <a:solidFill>
                  <a:srgbClr val="0D2041"/>
                </a:solidFill>
                <a:latin typeface="Arial"/>
                <a:cs typeface="Arial"/>
              </a:rPr>
              <a:t>Maximum</a:t>
            </a:r>
            <a:r>
              <a:rPr lang="en-US" sz="2000" b="1" spc="-55" dirty="0">
                <a:solidFill>
                  <a:srgbClr val="0D2041"/>
                </a:solidFill>
                <a:latin typeface="Arial"/>
                <a:cs typeface="Arial"/>
              </a:rPr>
              <a:t> </a:t>
            </a:r>
            <a:r>
              <a:rPr lang="en-US" sz="2000" b="1" spc="-10" dirty="0">
                <a:solidFill>
                  <a:srgbClr val="0D2041"/>
                </a:solidFill>
                <a:latin typeface="Arial"/>
                <a:cs typeface="Arial"/>
              </a:rPr>
              <a:t>Voltage</a:t>
            </a:r>
            <a:r>
              <a:rPr lang="en-US" sz="2000" spc="-10" dirty="0">
                <a:solidFill>
                  <a:srgbClr val="0D2041"/>
                </a:solidFill>
                <a:latin typeface="Arial MT"/>
                <a:cs typeface="Arial MT"/>
              </a:rPr>
              <a:t>:</a:t>
            </a:r>
            <a:r>
              <a:rPr lang="en-US" sz="2000" spc="-55" dirty="0">
                <a:solidFill>
                  <a:srgbClr val="0D2041"/>
                </a:solidFill>
                <a:latin typeface="Arial MT"/>
                <a:cs typeface="Arial MT"/>
              </a:rPr>
              <a:t> </a:t>
            </a:r>
            <a:r>
              <a:rPr lang="en-US" sz="2000" spc="-20" dirty="0">
                <a:solidFill>
                  <a:srgbClr val="0D2041"/>
                </a:solidFill>
                <a:latin typeface="Arial MT"/>
                <a:cs typeface="Arial MT"/>
              </a:rPr>
              <a:t>1000V </a:t>
            </a:r>
            <a:r>
              <a:rPr lang="en-US" sz="2000" b="1" dirty="0">
                <a:solidFill>
                  <a:srgbClr val="0D2041"/>
                </a:solidFill>
                <a:latin typeface="Arial"/>
                <a:cs typeface="Arial"/>
              </a:rPr>
              <a:t>Maximum</a:t>
            </a:r>
            <a:r>
              <a:rPr lang="en-US" sz="2000" b="1" spc="-50" dirty="0">
                <a:solidFill>
                  <a:srgbClr val="0D2041"/>
                </a:solidFill>
                <a:latin typeface="Arial"/>
                <a:cs typeface="Arial"/>
              </a:rPr>
              <a:t> </a:t>
            </a:r>
            <a:r>
              <a:rPr lang="en-US" sz="2000" b="1" dirty="0">
                <a:solidFill>
                  <a:srgbClr val="0D2041"/>
                </a:solidFill>
                <a:latin typeface="Arial"/>
                <a:cs typeface="Arial"/>
              </a:rPr>
              <a:t>Current</a:t>
            </a:r>
            <a:r>
              <a:rPr lang="en-US" sz="2000" dirty="0">
                <a:solidFill>
                  <a:srgbClr val="0D2041"/>
                </a:solidFill>
                <a:latin typeface="Arial MT"/>
                <a:cs typeface="Arial MT"/>
              </a:rPr>
              <a:t>:</a:t>
            </a:r>
            <a:r>
              <a:rPr lang="en-US" sz="2000" spc="-35" dirty="0">
                <a:solidFill>
                  <a:srgbClr val="0D2041"/>
                </a:solidFill>
                <a:latin typeface="Arial MT"/>
                <a:cs typeface="Arial MT"/>
              </a:rPr>
              <a:t> </a:t>
            </a:r>
            <a:r>
              <a:rPr lang="en-US" sz="2000" spc="-25" dirty="0">
                <a:solidFill>
                  <a:srgbClr val="0D2041"/>
                </a:solidFill>
                <a:latin typeface="Arial MT"/>
                <a:cs typeface="Arial MT"/>
              </a:rPr>
              <a:t>1A</a:t>
            </a:r>
            <a:endParaRPr lang="en-US" sz="2000" dirty="0">
              <a:latin typeface="Arial MT"/>
              <a:cs typeface="Arial MT"/>
            </a:endParaRPr>
          </a:p>
          <a:p>
            <a:pPr marL="12700">
              <a:lnSpc>
                <a:spcPct val="100000"/>
              </a:lnSpc>
              <a:spcBef>
                <a:spcPts val="5"/>
              </a:spcBef>
            </a:pPr>
            <a:r>
              <a:rPr lang="en-US" sz="2000" b="1" dirty="0">
                <a:solidFill>
                  <a:srgbClr val="0D2041"/>
                </a:solidFill>
                <a:latin typeface="Arial"/>
                <a:cs typeface="Arial"/>
              </a:rPr>
              <a:t>Forward</a:t>
            </a:r>
            <a:r>
              <a:rPr lang="en-US" sz="2000" b="1" spc="-80" dirty="0">
                <a:solidFill>
                  <a:srgbClr val="0D2041"/>
                </a:solidFill>
                <a:latin typeface="Arial"/>
                <a:cs typeface="Arial"/>
              </a:rPr>
              <a:t> </a:t>
            </a:r>
            <a:r>
              <a:rPr lang="en-US" sz="2000" b="1" spc="-10" dirty="0">
                <a:solidFill>
                  <a:srgbClr val="0D2041"/>
                </a:solidFill>
                <a:latin typeface="Arial"/>
                <a:cs typeface="Arial"/>
              </a:rPr>
              <a:t>Voltage</a:t>
            </a:r>
            <a:r>
              <a:rPr lang="en-US" sz="2000" b="1" spc="-55" dirty="0">
                <a:solidFill>
                  <a:srgbClr val="0D2041"/>
                </a:solidFill>
                <a:latin typeface="Arial"/>
                <a:cs typeface="Arial"/>
              </a:rPr>
              <a:t> </a:t>
            </a:r>
            <a:r>
              <a:rPr lang="en-US" sz="2000" b="1" dirty="0">
                <a:solidFill>
                  <a:srgbClr val="0D2041"/>
                </a:solidFill>
                <a:latin typeface="Arial"/>
                <a:cs typeface="Arial"/>
              </a:rPr>
              <a:t>Drop:</a:t>
            </a:r>
            <a:r>
              <a:rPr lang="en-US" sz="2000" b="1" spc="-50" dirty="0">
                <a:solidFill>
                  <a:srgbClr val="0D2041"/>
                </a:solidFill>
                <a:latin typeface="Arial"/>
                <a:cs typeface="Arial"/>
              </a:rPr>
              <a:t> </a:t>
            </a:r>
            <a:r>
              <a:rPr lang="en-US" sz="2000" spc="-10" dirty="0">
                <a:solidFill>
                  <a:srgbClr val="0D2041"/>
                </a:solidFill>
                <a:latin typeface="Arial MT"/>
                <a:cs typeface="Arial MT"/>
              </a:rPr>
              <a:t>~0.7V</a:t>
            </a:r>
            <a:endParaRPr lang="en-US" sz="2000" dirty="0">
              <a:latin typeface="Arial MT"/>
              <a:cs typeface="Arial MT"/>
            </a:endParaRPr>
          </a:p>
          <a:p>
            <a:pPr marL="12700">
              <a:lnSpc>
                <a:spcPct val="100000"/>
              </a:lnSpc>
            </a:pPr>
            <a:r>
              <a:rPr lang="en-US" sz="2000" b="1" dirty="0">
                <a:solidFill>
                  <a:srgbClr val="0D2041"/>
                </a:solidFill>
                <a:latin typeface="Arial"/>
                <a:cs typeface="Arial"/>
              </a:rPr>
              <a:t>Reverse Recovery Time</a:t>
            </a:r>
            <a:r>
              <a:rPr lang="en-US" sz="2000" dirty="0">
                <a:solidFill>
                  <a:srgbClr val="0D2041"/>
                </a:solidFill>
                <a:latin typeface="Arial MT"/>
                <a:cs typeface="Arial MT"/>
              </a:rPr>
              <a:t>:</a:t>
            </a:r>
            <a:r>
              <a:rPr lang="en-US" sz="2000" spc="-40" dirty="0">
                <a:solidFill>
                  <a:srgbClr val="0D2041"/>
                </a:solidFill>
                <a:latin typeface="Arial MT"/>
                <a:cs typeface="Arial MT"/>
              </a:rPr>
              <a:t> </a:t>
            </a:r>
            <a:r>
              <a:rPr lang="en-US" sz="2000" dirty="0">
                <a:solidFill>
                  <a:srgbClr val="0D2041"/>
                </a:solidFill>
                <a:latin typeface="Arial MT"/>
                <a:cs typeface="Arial MT"/>
              </a:rPr>
              <a:t>Slow</a:t>
            </a:r>
            <a:r>
              <a:rPr lang="en-US" sz="2000" spc="-35" dirty="0">
                <a:solidFill>
                  <a:srgbClr val="0D2041"/>
                </a:solidFill>
                <a:latin typeface="Arial MT"/>
                <a:cs typeface="Arial MT"/>
              </a:rPr>
              <a:t> </a:t>
            </a:r>
            <a:r>
              <a:rPr lang="en-US" sz="2000" dirty="0">
                <a:solidFill>
                  <a:srgbClr val="0D2041"/>
                </a:solidFill>
                <a:latin typeface="Arial MT"/>
                <a:cs typeface="Arial MT"/>
              </a:rPr>
              <a:t>(suitable</a:t>
            </a:r>
            <a:r>
              <a:rPr lang="en-US" sz="2000" spc="-40" dirty="0">
                <a:solidFill>
                  <a:srgbClr val="0D2041"/>
                </a:solidFill>
                <a:latin typeface="Arial MT"/>
                <a:cs typeface="Arial MT"/>
              </a:rPr>
              <a:t> </a:t>
            </a:r>
            <a:r>
              <a:rPr lang="en-US" sz="2000" dirty="0">
                <a:solidFill>
                  <a:srgbClr val="0D2041"/>
                </a:solidFill>
                <a:latin typeface="Arial MT"/>
                <a:cs typeface="Arial MT"/>
              </a:rPr>
              <a:t>for</a:t>
            </a:r>
            <a:r>
              <a:rPr lang="en-US" sz="2000" spc="-40" dirty="0">
                <a:solidFill>
                  <a:srgbClr val="0D2041"/>
                </a:solidFill>
                <a:latin typeface="Arial MT"/>
                <a:cs typeface="Arial MT"/>
              </a:rPr>
              <a:t> </a:t>
            </a:r>
            <a:r>
              <a:rPr lang="en-US" sz="2000" spc="-25" dirty="0">
                <a:solidFill>
                  <a:srgbClr val="0D2041"/>
                </a:solidFill>
                <a:latin typeface="Arial MT"/>
                <a:cs typeface="Arial MT"/>
              </a:rPr>
              <a:t>low-</a:t>
            </a:r>
            <a:r>
              <a:rPr lang="en-US" sz="2000" dirty="0">
                <a:solidFill>
                  <a:srgbClr val="0D2041"/>
                </a:solidFill>
                <a:latin typeface="Arial MT"/>
                <a:cs typeface="Arial MT"/>
              </a:rPr>
              <a:t>frequency </a:t>
            </a:r>
            <a:r>
              <a:rPr lang="en-US" sz="2000" spc="-10" dirty="0">
                <a:solidFill>
                  <a:srgbClr val="0D2041"/>
                </a:solidFill>
                <a:latin typeface="Arial MT"/>
                <a:cs typeface="Arial MT"/>
              </a:rPr>
              <a:t>applications)</a:t>
            </a:r>
            <a:endParaRPr lang="en-US" sz="2000" dirty="0">
              <a:latin typeface="Arial MT"/>
              <a:cs typeface="Arial MT"/>
            </a:endParaRPr>
          </a:p>
          <a:p>
            <a:pPr marL="299085" indent="-286385">
              <a:lnSpc>
                <a:spcPct val="100000"/>
              </a:lnSpc>
              <a:buFont typeface="Wingdings"/>
              <a:buChar char=""/>
              <a:tabLst>
                <a:tab pos="299085" algn="l"/>
              </a:tabLst>
            </a:pPr>
            <a:r>
              <a:rPr lang="en-US" sz="2000" b="1" spc="-10" dirty="0">
                <a:solidFill>
                  <a:srgbClr val="0D2041"/>
                </a:solidFill>
                <a:latin typeface="Arial"/>
                <a:cs typeface="Arial"/>
              </a:rPr>
              <a:t>Applications</a:t>
            </a:r>
            <a:endParaRPr lang="en-US" sz="2000" dirty="0">
              <a:latin typeface="Arial"/>
              <a:cs typeface="Arial"/>
            </a:endParaRPr>
          </a:p>
          <a:p>
            <a:pPr marL="299085" indent="-286385">
              <a:lnSpc>
                <a:spcPct val="100000"/>
              </a:lnSpc>
              <a:buChar char="•"/>
              <a:tabLst>
                <a:tab pos="299085" algn="l"/>
              </a:tabLst>
            </a:pPr>
            <a:r>
              <a:rPr lang="en-US" sz="2000" dirty="0">
                <a:solidFill>
                  <a:srgbClr val="0D2041"/>
                </a:solidFill>
                <a:latin typeface="Arial MT"/>
                <a:cs typeface="Arial MT"/>
              </a:rPr>
              <a:t>AC</a:t>
            </a:r>
            <a:r>
              <a:rPr lang="en-US" sz="2000" spc="-50" dirty="0">
                <a:solidFill>
                  <a:srgbClr val="0D2041"/>
                </a:solidFill>
                <a:latin typeface="Arial MT"/>
                <a:cs typeface="Arial MT"/>
              </a:rPr>
              <a:t> </a:t>
            </a:r>
            <a:r>
              <a:rPr lang="en-US" sz="2000" dirty="0">
                <a:solidFill>
                  <a:srgbClr val="0D2041"/>
                </a:solidFill>
                <a:latin typeface="Arial MT"/>
                <a:cs typeface="Arial MT"/>
              </a:rPr>
              <a:t>to</a:t>
            </a:r>
            <a:r>
              <a:rPr lang="en-US" sz="2000" spc="-30" dirty="0">
                <a:solidFill>
                  <a:srgbClr val="0D2041"/>
                </a:solidFill>
                <a:latin typeface="Arial MT"/>
                <a:cs typeface="Arial MT"/>
              </a:rPr>
              <a:t> </a:t>
            </a:r>
            <a:r>
              <a:rPr lang="en-US" sz="2000" dirty="0">
                <a:solidFill>
                  <a:srgbClr val="0D2041"/>
                </a:solidFill>
                <a:latin typeface="Arial MT"/>
                <a:cs typeface="Arial MT"/>
              </a:rPr>
              <a:t>DC</a:t>
            </a:r>
            <a:r>
              <a:rPr lang="en-US" sz="2000" spc="-40" dirty="0">
                <a:solidFill>
                  <a:srgbClr val="0D2041"/>
                </a:solidFill>
                <a:latin typeface="Arial MT"/>
                <a:cs typeface="Arial MT"/>
              </a:rPr>
              <a:t> </a:t>
            </a:r>
            <a:r>
              <a:rPr lang="en-US" sz="2000" dirty="0">
                <a:solidFill>
                  <a:srgbClr val="0D2041"/>
                </a:solidFill>
                <a:latin typeface="Arial MT"/>
                <a:cs typeface="Arial MT"/>
              </a:rPr>
              <a:t>rectification</a:t>
            </a:r>
            <a:r>
              <a:rPr lang="en-US" sz="2000" spc="-20" dirty="0">
                <a:solidFill>
                  <a:srgbClr val="0D2041"/>
                </a:solidFill>
                <a:latin typeface="Arial MT"/>
                <a:cs typeface="Arial MT"/>
              </a:rPr>
              <a:t> </a:t>
            </a:r>
            <a:r>
              <a:rPr lang="en-US" sz="2000" dirty="0">
                <a:solidFill>
                  <a:srgbClr val="0D2041"/>
                </a:solidFill>
                <a:latin typeface="Arial MT"/>
                <a:cs typeface="Arial MT"/>
              </a:rPr>
              <a:t>(e.g.,</a:t>
            </a:r>
            <a:r>
              <a:rPr lang="en-US" sz="2000" spc="-40" dirty="0">
                <a:solidFill>
                  <a:srgbClr val="0D2041"/>
                </a:solidFill>
                <a:latin typeface="Arial MT"/>
                <a:cs typeface="Arial MT"/>
              </a:rPr>
              <a:t> </a:t>
            </a:r>
            <a:r>
              <a:rPr lang="en-US" sz="2000" dirty="0">
                <a:solidFill>
                  <a:srgbClr val="0D2041"/>
                </a:solidFill>
                <a:latin typeface="Arial MT"/>
                <a:cs typeface="Arial MT"/>
              </a:rPr>
              <a:t>power</a:t>
            </a:r>
            <a:r>
              <a:rPr lang="en-US" sz="2000" spc="20" dirty="0">
                <a:solidFill>
                  <a:srgbClr val="0D2041"/>
                </a:solidFill>
                <a:latin typeface="Arial MT"/>
                <a:cs typeface="Arial MT"/>
              </a:rPr>
              <a:t> </a:t>
            </a:r>
            <a:r>
              <a:rPr lang="en-US" sz="2000" spc="-10" dirty="0">
                <a:solidFill>
                  <a:srgbClr val="0D2041"/>
                </a:solidFill>
                <a:latin typeface="Arial MT"/>
                <a:cs typeface="Arial MT"/>
              </a:rPr>
              <a:t>supplies)</a:t>
            </a:r>
            <a:endParaRPr lang="en-US" sz="2000" dirty="0">
              <a:latin typeface="Arial MT"/>
              <a:cs typeface="Arial MT"/>
            </a:endParaRPr>
          </a:p>
          <a:p>
            <a:pPr marL="299085" indent="-286385">
              <a:lnSpc>
                <a:spcPct val="100000"/>
              </a:lnSpc>
              <a:buChar char="•"/>
              <a:tabLst>
                <a:tab pos="299085" algn="l"/>
              </a:tabLst>
            </a:pPr>
            <a:r>
              <a:rPr lang="en-US" sz="2000" dirty="0">
                <a:solidFill>
                  <a:srgbClr val="0D2041"/>
                </a:solidFill>
                <a:latin typeface="Arial MT"/>
                <a:cs typeface="Arial MT"/>
              </a:rPr>
              <a:t>Protection</a:t>
            </a:r>
            <a:r>
              <a:rPr lang="en-US" sz="2000" spc="-35" dirty="0">
                <a:solidFill>
                  <a:srgbClr val="0D2041"/>
                </a:solidFill>
                <a:latin typeface="Arial MT"/>
                <a:cs typeface="Arial MT"/>
              </a:rPr>
              <a:t> </a:t>
            </a:r>
            <a:r>
              <a:rPr lang="en-US" sz="2000" dirty="0">
                <a:solidFill>
                  <a:srgbClr val="0D2041"/>
                </a:solidFill>
                <a:latin typeface="Arial MT"/>
                <a:cs typeface="Arial MT"/>
              </a:rPr>
              <a:t>circuits</a:t>
            </a:r>
            <a:r>
              <a:rPr lang="en-US" sz="2000" spc="-25" dirty="0">
                <a:solidFill>
                  <a:srgbClr val="0D2041"/>
                </a:solidFill>
                <a:latin typeface="Arial MT"/>
                <a:cs typeface="Arial MT"/>
              </a:rPr>
              <a:t> </a:t>
            </a:r>
            <a:r>
              <a:rPr lang="en-US" sz="2000" dirty="0">
                <a:solidFill>
                  <a:srgbClr val="0D2041"/>
                </a:solidFill>
                <a:latin typeface="Arial MT"/>
                <a:cs typeface="Arial MT"/>
              </a:rPr>
              <a:t>(e.g.,</a:t>
            </a:r>
            <a:r>
              <a:rPr lang="en-US" sz="2000" spc="-25" dirty="0">
                <a:solidFill>
                  <a:srgbClr val="0D2041"/>
                </a:solidFill>
                <a:latin typeface="Arial MT"/>
                <a:cs typeface="Arial MT"/>
              </a:rPr>
              <a:t> </a:t>
            </a:r>
            <a:r>
              <a:rPr lang="en-US" sz="2000" dirty="0">
                <a:solidFill>
                  <a:srgbClr val="0D2041"/>
                </a:solidFill>
                <a:latin typeface="Arial MT"/>
                <a:cs typeface="Arial MT"/>
              </a:rPr>
              <a:t>flyback</a:t>
            </a:r>
            <a:r>
              <a:rPr lang="en-US" sz="2000" spc="5" dirty="0">
                <a:solidFill>
                  <a:srgbClr val="0D2041"/>
                </a:solidFill>
                <a:latin typeface="Arial MT"/>
                <a:cs typeface="Arial MT"/>
              </a:rPr>
              <a:t> </a:t>
            </a:r>
            <a:r>
              <a:rPr lang="en-US" sz="2000" dirty="0">
                <a:solidFill>
                  <a:srgbClr val="0D2041"/>
                </a:solidFill>
                <a:latin typeface="Arial MT"/>
                <a:cs typeface="Arial MT"/>
              </a:rPr>
              <a:t>diodes</a:t>
            </a:r>
            <a:r>
              <a:rPr lang="en-US" sz="2000" spc="-20" dirty="0">
                <a:solidFill>
                  <a:srgbClr val="0D2041"/>
                </a:solidFill>
                <a:latin typeface="Arial MT"/>
                <a:cs typeface="Arial MT"/>
              </a:rPr>
              <a:t> </a:t>
            </a:r>
            <a:r>
              <a:rPr lang="en-US" sz="2000" dirty="0">
                <a:solidFill>
                  <a:srgbClr val="0D2041"/>
                </a:solidFill>
                <a:latin typeface="Arial MT"/>
                <a:cs typeface="Arial MT"/>
              </a:rPr>
              <a:t>in</a:t>
            </a:r>
            <a:r>
              <a:rPr lang="en-US" sz="2000" spc="-35" dirty="0">
                <a:solidFill>
                  <a:srgbClr val="0D2041"/>
                </a:solidFill>
                <a:latin typeface="Arial MT"/>
                <a:cs typeface="Arial MT"/>
              </a:rPr>
              <a:t> </a:t>
            </a:r>
            <a:r>
              <a:rPr lang="en-US" sz="2000" spc="-10" dirty="0">
                <a:solidFill>
                  <a:srgbClr val="0D2041"/>
                </a:solidFill>
                <a:latin typeface="Arial MT"/>
                <a:cs typeface="Arial MT"/>
              </a:rPr>
              <a:t>relays)</a:t>
            </a:r>
            <a:endParaRPr lang="en-US" sz="2000" dirty="0">
              <a:latin typeface="Arial MT"/>
              <a:cs typeface="Arial MT"/>
            </a:endParaRPr>
          </a:p>
          <a:p>
            <a:pPr marL="299085" indent="-286385">
              <a:lnSpc>
                <a:spcPct val="100000"/>
              </a:lnSpc>
              <a:buChar char="•"/>
              <a:tabLst>
                <a:tab pos="299085" algn="l"/>
              </a:tabLst>
            </a:pPr>
            <a:r>
              <a:rPr lang="en-US" sz="2000" spc="-10" dirty="0">
                <a:solidFill>
                  <a:srgbClr val="0D2041"/>
                </a:solidFill>
                <a:latin typeface="Arial MT"/>
                <a:cs typeface="Arial MT"/>
              </a:rPr>
              <a:t>Voltage</a:t>
            </a:r>
            <a:r>
              <a:rPr lang="en-US" sz="2000" spc="-35" dirty="0">
                <a:solidFill>
                  <a:srgbClr val="0D2041"/>
                </a:solidFill>
                <a:latin typeface="Arial MT"/>
                <a:cs typeface="Arial MT"/>
              </a:rPr>
              <a:t> </a:t>
            </a:r>
            <a:r>
              <a:rPr lang="en-US" sz="2000" dirty="0">
                <a:solidFill>
                  <a:srgbClr val="0D2041"/>
                </a:solidFill>
                <a:latin typeface="Arial MT"/>
                <a:cs typeface="Arial MT"/>
              </a:rPr>
              <a:t>blocking</a:t>
            </a:r>
            <a:r>
              <a:rPr lang="en-US" sz="2000" spc="-25" dirty="0">
                <a:solidFill>
                  <a:srgbClr val="0D2041"/>
                </a:solidFill>
                <a:latin typeface="Arial MT"/>
                <a:cs typeface="Arial MT"/>
              </a:rPr>
              <a:t> </a:t>
            </a:r>
            <a:r>
              <a:rPr lang="en-US" sz="2000" dirty="0">
                <a:solidFill>
                  <a:srgbClr val="0D2041"/>
                </a:solidFill>
                <a:latin typeface="Arial MT"/>
                <a:cs typeface="Arial MT"/>
              </a:rPr>
              <a:t>in</a:t>
            </a:r>
            <a:r>
              <a:rPr lang="en-US" sz="2000" spc="-25" dirty="0">
                <a:solidFill>
                  <a:srgbClr val="0D2041"/>
                </a:solidFill>
                <a:latin typeface="Arial MT"/>
                <a:cs typeface="Arial MT"/>
              </a:rPr>
              <a:t> </a:t>
            </a:r>
            <a:r>
              <a:rPr lang="en-US" sz="2000" dirty="0">
                <a:solidFill>
                  <a:srgbClr val="0D2041"/>
                </a:solidFill>
                <a:latin typeface="Arial MT"/>
                <a:cs typeface="Arial MT"/>
              </a:rPr>
              <a:t>DC</a:t>
            </a:r>
            <a:r>
              <a:rPr lang="en-US" sz="2000" spc="-40" dirty="0">
                <a:solidFill>
                  <a:srgbClr val="0D2041"/>
                </a:solidFill>
                <a:latin typeface="Arial MT"/>
                <a:cs typeface="Arial MT"/>
              </a:rPr>
              <a:t> </a:t>
            </a:r>
            <a:r>
              <a:rPr lang="en-US" sz="2000" spc="-10" dirty="0">
                <a:solidFill>
                  <a:srgbClr val="0D2041"/>
                </a:solidFill>
                <a:latin typeface="Arial MT"/>
                <a:cs typeface="Arial MT"/>
              </a:rPr>
              <a:t>circuits</a:t>
            </a:r>
            <a:endParaRPr lang="en-US" sz="2000" dirty="0">
              <a:latin typeface="Arial MT"/>
              <a:cs typeface="Arial MT"/>
            </a:endParaRPr>
          </a:p>
          <a:p>
            <a:pPr marL="0" indent="0">
              <a:buNone/>
            </a:pPr>
            <a:endParaRPr lang="en-US" dirty="0"/>
          </a:p>
        </p:txBody>
      </p:sp>
      <p:pic>
        <p:nvPicPr>
          <p:cNvPr id="5" name="Picture 4">
            <a:extLst>
              <a:ext uri="{FF2B5EF4-FFF2-40B4-BE49-F238E27FC236}">
                <a16:creationId xmlns:a16="http://schemas.microsoft.com/office/drawing/2014/main" id="{66BAD7F8-A6CA-F46C-CFC9-0C7FBD5D5629}"/>
              </a:ext>
            </a:extLst>
          </p:cNvPr>
          <p:cNvPicPr>
            <a:picLocks noChangeAspect="1"/>
          </p:cNvPicPr>
          <p:nvPr/>
        </p:nvPicPr>
        <p:blipFill>
          <a:blip r:embed="rId3"/>
          <a:srcRect l="6801" t="33263" r="4386" b="31050"/>
          <a:stretch/>
        </p:blipFill>
        <p:spPr>
          <a:xfrm>
            <a:off x="7443295" y="2603090"/>
            <a:ext cx="4345781" cy="8259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85681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368968" y="272717"/>
            <a:ext cx="8311423" cy="1572414"/>
          </a:xfrm>
        </p:spPr>
        <p:txBody>
          <a:bodyPr/>
          <a:lstStyle/>
          <a:p>
            <a:r>
              <a:rPr lang="en-US" sz="3600" dirty="0">
                <a:latin typeface="Arial MT"/>
                <a:cs typeface="Arial MT"/>
              </a:rPr>
              <a:t>Over</a:t>
            </a:r>
            <a:r>
              <a:rPr lang="en-US" sz="3600" spc="-50" dirty="0">
                <a:latin typeface="Arial MT"/>
                <a:cs typeface="Arial MT"/>
              </a:rPr>
              <a:t> </a:t>
            </a:r>
            <a:r>
              <a:rPr lang="en-US" sz="3600" dirty="0">
                <a:latin typeface="Arial MT"/>
                <a:cs typeface="Arial MT"/>
              </a:rPr>
              <a:t>view</a:t>
            </a:r>
            <a:r>
              <a:rPr lang="en-US" sz="3600" spc="-60" dirty="0">
                <a:latin typeface="Arial MT"/>
                <a:cs typeface="Arial MT"/>
              </a:rPr>
              <a:t> </a:t>
            </a:r>
            <a:r>
              <a:rPr lang="en-US" sz="3600" spc="-25" dirty="0">
                <a:latin typeface="Arial MT"/>
                <a:cs typeface="Arial MT"/>
              </a:rPr>
              <a:t>of</a:t>
            </a:r>
            <a:r>
              <a:rPr lang="en-US" sz="3600" dirty="0">
                <a:latin typeface="Arial MT"/>
                <a:cs typeface="Arial MT"/>
              </a:rPr>
              <a:t>	</a:t>
            </a:r>
            <a:r>
              <a:rPr lang="en-US" sz="3600" spc="-20" dirty="0">
                <a:latin typeface="Arial MT"/>
                <a:cs typeface="Arial MT"/>
              </a:rPr>
              <a:t>Lithium-</a:t>
            </a:r>
            <a:r>
              <a:rPr lang="en-US" sz="3600" dirty="0">
                <a:latin typeface="Arial MT"/>
                <a:cs typeface="Arial MT"/>
              </a:rPr>
              <a:t>Ion</a:t>
            </a:r>
            <a:r>
              <a:rPr lang="en-US" sz="3600" spc="45" dirty="0">
                <a:latin typeface="Arial MT"/>
                <a:cs typeface="Arial MT"/>
              </a:rPr>
              <a:t> </a:t>
            </a:r>
            <a:r>
              <a:rPr lang="en-US" sz="3600" spc="-10" dirty="0">
                <a:latin typeface="Arial MT"/>
                <a:cs typeface="Arial MT"/>
              </a:rPr>
              <a:t>battery</a:t>
            </a:r>
            <a:br>
              <a:rPr lang="en-IN" b="1" i="0" dirty="0">
                <a:effectLst/>
                <a:latin typeface="__Inter_d65c78"/>
              </a:rPr>
            </a:br>
            <a:endParaRPr lang="en-US" dirty="0"/>
          </a:p>
        </p:txBody>
      </p:sp>
      <p:sp>
        <p:nvSpPr>
          <p:cNvPr id="5" name="Content Placeholder 4">
            <a:extLst>
              <a:ext uri="{FF2B5EF4-FFF2-40B4-BE49-F238E27FC236}">
                <a16:creationId xmlns:a16="http://schemas.microsoft.com/office/drawing/2014/main" id="{E6C9388D-D76F-AD14-5CE0-C97EB8CFF2D6}"/>
              </a:ext>
            </a:extLst>
          </p:cNvPr>
          <p:cNvSpPr>
            <a:spLocks noGrp="1"/>
          </p:cNvSpPr>
          <p:nvPr>
            <p:ph sz="quarter" idx="4"/>
          </p:nvPr>
        </p:nvSpPr>
        <p:spPr>
          <a:xfrm>
            <a:off x="368969" y="1556084"/>
            <a:ext cx="8530284" cy="5301916"/>
          </a:xfrm>
        </p:spPr>
        <p:txBody>
          <a:bodyPr>
            <a:normAutofit fontScale="85000" lnSpcReduction="20000"/>
          </a:bodyPr>
          <a:lstStyle/>
          <a:p>
            <a:pPr marL="12700">
              <a:lnSpc>
                <a:spcPct val="100000"/>
              </a:lnSpc>
              <a:spcBef>
                <a:spcPts val="100"/>
              </a:spcBef>
            </a:pPr>
            <a:r>
              <a:rPr lang="en-US" sz="2600" dirty="0"/>
              <a:t>A</a:t>
            </a:r>
            <a:r>
              <a:rPr lang="en-US" sz="2600" spc="-135" dirty="0"/>
              <a:t> </a:t>
            </a:r>
            <a:r>
              <a:rPr lang="en-US" sz="2600" dirty="0"/>
              <a:t>3.7V</a:t>
            </a:r>
            <a:r>
              <a:rPr lang="en-US" sz="2600" spc="-25" dirty="0"/>
              <a:t> </a:t>
            </a:r>
            <a:r>
              <a:rPr lang="en-US" sz="2600" spc="-10" dirty="0"/>
              <a:t>Li-</a:t>
            </a:r>
            <a:r>
              <a:rPr lang="en-US" sz="2600" dirty="0"/>
              <a:t>ion </a:t>
            </a:r>
            <a:r>
              <a:rPr lang="en-US" sz="2600" spc="-10" dirty="0"/>
              <a:t>(Lithium-</a:t>
            </a:r>
            <a:r>
              <a:rPr lang="en-US" sz="2600" dirty="0"/>
              <a:t>Ion)</a:t>
            </a:r>
            <a:r>
              <a:rPr lang="en-US" sz="2600" spc="-10" dirty="0"/>
              <a:t> </a:t>
            </a:r>
            <a:r>
              <a:rPr lang="en-US" sz="2600" dirty="0"/>
              <a:t>battery</a:t>
            </a:r>
            <a:r>
              <a:rPr lang="en-US" sz="2600" spc="-25" dirty="0"/>
              <a:t> </a:t>
            </a:r>
            <a:r>
              <a:rPr lang="en-US" sz="2600" dirty="0"/>
              <a:t>is</a:t>
            </a:r>
            <a:r>
              <a:rPr lang="en-US" sz="2600" spc="-20" dirty="0"/>
              <a:t> </a:t>
            </a:r>
            <a:r>
              <a:rPr lang="en-US" sz="2600" dirty="0"/>
              <a:t>a</a:t>
            </a:r>
            <a:r>
              <a:rPr lang="en-US" sz="2600" spc="-30" dirty="0"/>
              <a:t> </a:t>
            </a:r>
            <a:r>
              <a:rPr lang="en-US" sz="2600" dirty="0"/>
              <a:t>rechargeable</a:t>
            </a:r>
            <a:r>
              <a:rPr lang="en-US" sz="2600" spc="5" dirty="0"/>
              <a:t> </a:t>
            </a:r>
            <a:r>
              <a:rPr lang="en-US" sz="2600" dirty="0"/>
              <a:t>battery</a:t>
            </a:r>
            <a:r>
              <a:rPr lang="en-US" sz="2600" spc="-20" dirty="0"/>
              <a:t> </a:t>
            </a:r>
            <a:r>
              <a:rPr lang="en-US" sz="2600" dirty="0"/>
              <a:t>commonly</a:t>
            </a:r>
            <a:r>
              <a:rPr lang="en-US" sz="2600" spc="-10" dirty="0"/>
              <a:t> </a:t>
            </a:r>
            <a:r>
              <a:rPr lang="en-US" sz="2600" dirty="0"/>
              <a:t>used</a:t>
            </a:r>
            <a:r>
              <a:rPr lang="en-US" sz="2600" spc="-25" dirty="0"/>
              <a:t> in</a:t>
            </a:r>
          </a:p>
          <a:p>
            <a:pPr marL="12700">
              <a:lnSpc>
                <a:spcPct val="100000"/>
              </a:lnSpc>
              <a:spcBef>
                <a:spcPts val="5"/>
              </a:spcBef>
            </a:pPr>
            <a:r>
              <a:rPr lang="en-US" sz="2600" dirty="0"/>
              <a:t>electronics</a:t>
            </a:r>
            <a:r>
              <a:rPr lang="en-US" sz="2600" spc="-25" dirty="0"/>
              <a:t> </a:t>
            </a:r>
            <a:r>
              <a:rPr lang="en-US" sz="2600" dirty="0"/>
              <a:t>such</a:t>
            </a:r>
            <a:r>
              <a:rPr lang="en-US" sz="2600" spc="-20" dirty="0"/>
              <a:t> </a:t>
            </a:r>
            <a:r>
              <a:rPr lang="en-US" sz="2600" dirty="0"/>
              <a:t>as</a:t>
            </a:r>
            <a:r>
              <a:rPr lang="en-US" sz="2600" spc="-30" dirty="0"/>
              <a:t> </a:t>
            </a:r>
            <a:r>
              <a:rPr lang="en-US" sz="2600" dirty="0"/>
              <a:t>smartphones,</a:t>
            </a:r>
            <a:r>
              <a:rPr lang="en-US" sz="2600" spc="-20" dirty="0"/>
              <a:t> </a:t>
            </a:r>
            <a:r>
              <a:rPr lang="en-US" sz="2600" dirty="0"/>
              <a:t>laptops,</a:t>
            </a:r>
            <a:r>
              <a:rPr lang="en-US" sz="2600" spc="-30" dirty="0"/>
              <a:t> </a:t>
            </a:r>
            <a:r>
              <a:rPr lang="en-US" sz="2600" dirty="0"/>
              <a:t>power</a:t>
            </a:r>
            <a:r>
              <a:rPr lang="en-US" sz="2600" spc="10" dirty="0"/>
              <a:t> </a:t>
            </a:r>
            <a:r>
              <a:rPr lang="en-US" sz="2600" dirty="0"/>
              <a:t>banks,</a:t>
            </a:r>
            <a:r>
              <a:rPr lang="en-US" sz="2600" spc="-20" dirty="0"/>
              <a:t> </a:t>
            </a:r>
            <a:r>
              <a:rPr lang="en-US" sz="2600" dirty="0"/>
              <a:t>and</a:t>
            </a:r>
            <a:r>
              <a:rPr lang="en-US" sz="2600" spc="-30" dirty="0"/>
              <a:t> </a:t>
            </a:r>
            <a:r>
              <a:rPr lang="en-US" sz="2600" dirty="0"/>
              <a:t>IoT</a:t>
            </a:r>
            <a:r>
              <a:rPr lang="en-US" sz="2600" spc="-60" dirty="0"/>
              <a:t> </a:t>
            </a:r>
            <a:r>
              <a:rPr lang="en-US" sz="2600" spc="-10" dirty="0"/>
              <a:t>devices.</a:t>
            </a:r>
          </a:p>
          <a:p>
            <a:pPr>
              <a:lnSpc>
                <a:spcPct val="100000"/>
              </a:lnSpc>
              <a:spcBef>
                <a:spcPts val="330"/>
              </a:spcBef>
            </a:pPr>
            <a:endParaRPr lang="en-US" sz="2600" spc="-10" dirty="0"/>
          </a:p>
          <a:p>
            <a:pPr marL="57785" algn="ctr">
              <a:lnSpc>
                <a:spcPct val="100000"/>
              </a:lnSpc>
            </a:pPr>
            <a:r>
              <a:rPr lang="en-US" sz="2100" b="1" u="sng" dirty="0">
                <a:uFill>
                  <a:solidFill>
                    <a:srgbClr val="0D2041"/>
                  </a:solidFill>
                </a:uFill>
                <a:latin typeface="Arial"/>
                <a:cs typeface="Arial"/>
              </a:rPr>
              <a:t>Charging</a:t>
            </a:r>
            <a:r>
              <a:rPr lang="en-US" sz="2100" b="1" u="sng" spc="-35" dirty="0">
                <a:uFill>
                  <a:solidFill>
                    <a:srgbClr val="0D2041"/>
                  </a:solidFill>
                </a:uFill>
                <a:latin typeface="Arial"/>
                <a:cs typeface="Arial"/>
              </a:rPr>
              <a:t> </a:t>
            </a:r>
            <a:r>
              <a:rPr lang="en-US" sz="2100" b="1" u="sng" dirty="0">
                <a:uFill>
                  <a:solidFill>
                    <a:srgbClr val="0D2041"/>
                  </a:solidFill>
                </a:uFill>
                <a:latin typeface="Arial"/>
                <a:cs typeface="Arial"/>
              </a:rPr>
              <a:t>a</a:t>
            </a:r>
            <a:r>
              <a:rPr lang="en-US" sz="2100" b="1" u="sng" spc="-20" dirty="0">
                <a:uFill>
                  <a:solidFill>
                    <a:srgbClr val="0D2041"/>
                  </a:solidFill>
                </a:uFill>
                <a:latin typeface="Arial"/>
                <a:cs typeface="Arial"/>
              </a:rPr>
              <a:t> </a:t>
            </a:r>
            <a:r>
              <a:rPr lang="en-US" sz="2100" b="1" u="sng" dirty="0">
                <a:uFill>
                  <a:solidFill>
                    <a:srgbClr val="0D2041"/>
                  </a:solidFill>
                </a:uFill>
                <a:latin typeface="Arial"/>
                <a:cs typeface="Arial"/>
              </a:rPr>
              <a:t>3.7V</a:t>
            </a:r>
            <a:r>
              <a:rPr lang="en-US" sz="2100" b="1" u="sng" spc="-40" dirty="0">
                <a:uFill>
                  <a:solidFill>
                    <a:srgbClr val="0D2041"/>
                  </a:solidFill>
                </a:uFill>
                <a:latin typeface="Arial"/>
                <a:cs typeface="Arial"/>
              </a:rPr>
              <a:t> </a:t>
            </a:r>
            <a:r>
              <a:rPr lang="en-US" sz="2100" b="1" u="sng" spc="-10" dirty="0">
                <a:uFill>
                  <a:solidFill>
                    <a:srgbClr val="0D2041"/>
                  </a:solidFill>
                </a:uFill>
                <a:latin typeface="Arial"/>
                <a:cs typeface="Arial"/>
              </a:rPr>
              <a:t>Li-</a:t>
            </a:r>
            <a:r>
              <a:rPr lang="en-US" sz="2100" b="1" u="sng" dirty="0">
                <a:uFill>
                  <a:solidFill>
                    <a:srgbClr val="0D2041"/>
                  </a:solidFill>
                </a:uFill>
                <a:latin typeface="Arial"/>
                <a:cs typeface="Arial"/>
              </a:rPr>
              <a:t>ion</a:t>
            </a:r>
            <a:r>
              <a:rPr lang="en-US" sz="2100" b="1" u="sng" spc="-40" dirty="0">
                <a:uFill>
                  <a:solidFill>
                    <a:srgbClr val="0D2041"/>
                  </a:solidFill>
                </a:uFill>
                <a:latin typeface="Arial"/>
                <a:cs typeface="Arial"/>
              </a:rPr>
              <a:t> </a:t>
            </a:r>
            <a:r>
              <a:rPr lang="en-US" sz="2100" b="1" u="sng" spc="-10" dirty="0">
                <a:uFill>
                  <a:solidFill>
                    <a:srgbClr val="0D2041"/>
                  </a:solidFill>
                </a:uFill>
                <a:latin typeface="Arial"/>
                <a:cs typeface="Arial"/>
              </a:rPr>
              <a:t>Battery</a:t>
            </a:r>
            <a:endParaRPr lang="en-US" sz="2100" dirty="0">
              <a:latin typeface="Arial"/>
              <a:cs typeface="Arial"/>
            </a:endParaRPr>
          </a:p>
          <a:p>
            <a:pPr marL="213360">
              <a:lnSpc>
                <a:spcPct val="100000"/>
              </a:lnSpc>
              <a:spcBef>
                <a:spcPts val="15"/>
              </a:spcBef>
            </a:pPr>
            <a:r>
              <a:rPr lang="en-US" sz="2100" dirty="0"/>
              <a:t>Never</a:t>
            </a:r>
            <a:r>
              <a:rPr lang="en-US" sz="2100" spc="-15" dirty="0"/>
              <a:t> </a:t>
            </a:r>
            <a:r>
              <a:rPr lang="en-US" sz="2100" dirty="0"/>
              <a:t>charge</a:t>
            </a:r>
            <a:r>
              <a:rPr lang="en-US" sz="2100" spc="-55" dirty="0"/>
              <a:t> </a:t>
            </a:r>
            <a:r>
              <a:rPr lang="en-US" sz="2100" dirty="0"/>
              <a:t>above</a:t>
            </a:r>
            <a:r>
              <a:rPr lang="en-US" sz="2100" spc="-25" dirty="0"/>
              <a:t> </a:t>
            </a:r>
            <a:r>
              <a:rPr lang="en-US" sz="2100" dirty="0"/>
              <a:t>4.2V</a:t>
            </a:r>
            <a:r>
              <a:rPr lang="en-US" sz="2100" spc="-30" dirty="0"/>
              <a:t> </a:t>
            </a:r>
            <a:r>
              <a:rPr lang="en-US" sz="2100" dirty="0"/>
              <a:t>(risk</a:t>
            </a:r>
            <a:r>
              <a:rPr lang="en-US" sz="2100" spc="-35" dirty="0"/>
              <a:t> </a:t>
            </a:r>
            <a:r>
              <a:rPr lang="en-US" sz="2100" dirty="0"/>
              <a:t>of</a:t>
            </a:r>
            <a:r>
              <a:rPr lang="en-US" sz="2100" spc="-15" dirty="0"/>
              <a:t> </a:t>
            </a:r>
            <a:r>
              <a:rPr lang="en-US" sz="2100" dirty="0"/>
              <a:t>explosion</a:t>
            </a:r>
            <a:r>
              <a:rPr lang="en-US" sz="2100" spc="-35" dirty="0"/>
              <a:t> </a:t>
            </a:r>
            <a:r>
              <a:rPr lang="en-US" sz="2100" dirty="0"/>
              <a:t>or</a:t>
            </a:r>
            <a:r>
              <a:rPr lang="en-US" sz="2100" spc="-35" dirty="0"/>
              <a:t> </a:t>
            </a:r>
            <a:r>
              <a:rPr lang="en-US" sz="2100" spc="-10" dirty="0"/>
              <a:t>fire).</a:t>
            </a:r>
            <a:endParaRPr lang="en-US" sz="2100" dirty="0"/>
          </a:p>
          <a:p>
            <a:pPr marL="204470" marR="2219325">
              <a:lnSpc>
                <a:spcPct val="100000"/>
              </a:lnSpc>
            </a:pPr>
            <a:r>
              <a:rPr lang="en-US" sz="2100" dirty="0"/>
              <a:t>Best</a:t>
            </a:r>
            <a:r>
              <a:rPr lang="en-US" sz="2100" spc="-30" dirty="0"/>
              <a:t> </a:t>
            </a:r>
            <a:r>
              <a:rPr lang="en-US" sz="2100" dirty="0"/>
              <a:t>Charging</a:t>
            </a:r>
            <a:r>
              <a:rPr lang="en-US" sz="2100" spc="-50" dirty="0"/>
              <a:t> </a:t>
            </a:r>
            <a:r>
              <a:rPr lang="en-US" sz="2100" dirty="0"/>
              <a:t>Method:</a:t>
            </a:r>
            <a:r>
              <a:rPr lang="en-US" sz="2100" spc="-50" dirty="0"/>
              <a:t> </a:t>
            </a:r>
            <a:r>
              <a:rPr lang="en-US" sz="2100" dirty="0"/>
              <a:t>Constant</a:t>
            </a:r>
            <a:r>
              <a:rPr lang="en-US" sz="2100" spc="-55" dirty="0"/>
              <a:t> </a:t>
            </a:r>
            <a:r>
              <a:rPr lang="en-US" sz="2100" dirty="0"/>
              <a:t>Current</a:t>
            </a:r>
            <a:r>
              <a:rPr lang="en-US" sz="2100" spc="-45" dirty="0"/>
              <a:t> </a:t>
            </a:r>
            <a:r>
              <a:rPr lang="en-US" sz="2100" dirty="0"/>
              <a:t>/</a:t>
            </a:r>
            <a:r>
              <a:rPr lang="en-US" sz="2100" spc="-25" dirty="0"/>
              <a:t> </a:t>
            </a:r>
            <a:r>
              <a:rPr lang="en-US" sz="2100" dirty="0"/>
              <a:t>Constant</a:t>
            </a:r>
            <a:r>
              <a:rPr lang="en-US" sz="2100" spc="-55" dirty="0"/>
              <a:t> </a:t>
            </a:r>
            <a:r>
              <a:rPr lang="en-US" sz="2100" spc="-10" dirty="0"/>
              <a:t>Voltage</a:t>
            </a:r>
            <a:r>
              <a:rPr lang="en-US" sz="2100" spc="-45" dirty="0"/>
              <a:t> </a:t>
            </a:r>
            <a:r>
              <a:rPr lang="en-US" sz="2100" spc="-10" dirty="0"/>
              <a:t>(CC/CV). </a:t>
            </a:r>
            <a:r>
              <a:rPr lang="en-US" sz="2100" dirty="0"/>
              <a:t>Recommended</a:t>
            </a:r>
            <a:r>
              <a:rPr lang="en-US" sz="2100" spc="-65" dirty="0"/>
              <a:t> </a:t>
            </a:r>
            <a:r>
              <a:rPr lang="en-US" sz="2100" dirty="0"/>
              <a:t>Charger:</a:t>
            </a:r>
            <a:r>
              <a:rPr lang="en-US" sz="2100" spc="-75" dirty="0"/>
              <a:t> </a:t>
            </a:r>
            <a:r>
              <a:rPr lang="en-US" sz="2100" dirty="0"/>
              <a:t>TP4056</a:t>
            </a:r>
            <a:r>
              <a:rPr lang="en-US" sz="2100" spc="-40" dirty="0"/>
              <a:t> </a:t>
            </a:r>
            <a:r>
              <a:rPr lang="en-US" sz="2100" dirty="0"/>
              <a:t>(for</a:t>
            </a:r>
            <a:r>
              <a:rPr lang="en-US" sz="2100" spc="-45" dirty="0"/>
              <a:t> </a:t>
            </a:r>
            <a:r>
              <a:rPr lang="en-US" sz="2100" dirty="0"/>
              <a:t>small</a:t>
            </a:r>
            <a:r>
              <a:rPr lang="en-US" sz="2100" spc="-35" dirty="0"/>
              <a:t> </a:t>
            </a:r>
            <a:r>
              <a:rPr lang="en-US" sz="2100" dirty="0"/>
              <a:t>Li-ion</a:t>
            </a:r>
            <a:r>
              <a:rPr lang="en-US" sz="2100" spc="-40" dirty="0"/>
              <a:t> </a:t>
            </a:r>
            <a:r>
              <a:rPr lang="en-US" sz="2100" spc="-10" dirty="0"/>
              <a:t>batteries).</a:t>
            </a:r>
            <a:endParaRPr lang="en-US" sz="2100" dirty="0"/>
          </a:p>
          <a:p>
            <a:pPr marL="204470">
              <a:lnSpc>
                <a:spcPct val="100000"/>
              </a:lnSpc>
            </a:pPr>
            <a:r>
              <a:rPr lang="en-US" sz="2100" dirty="0"/>
              <a:t>Charging</a:t>
            </a:r>
            <a:r>
              <a:rPr lang="en-US" sz="2100" spc="-50" dirty="0"/>
              <a:t> </a:t>
            </a:r>
            <a:r>
              <a:rPr lang="en-US" sz="2100" dirty="0"/>
              <a:t>Current:</a:t>
            </a:r>
            <a:r>
              <a:rPr lang="en-US" sz="2100" spc="-50" dirty="0"/>
              <a:t> </a:t>
            </a:r>
            <a:r>
              <a:rPr lang="en-US" sz="2100" dirty="0"/>
              <a:t>0.5C</a:t>
            </a:r>
            <a:r>
              <a:rPr lang="en-US" sz="2100" spc="-35" dirty="0"/>
              <a:t> </a:t>
            </a:r>
            <a:r>
              <a:rPr lang="en-US" sz="2100" dirty="0"/>
              <a:t>to</a:t>
            </a:r>
            <a:r>
              <a:rPr lang="en-US" sz="2100" spc="-25" dirty="0"/>
              <a:t> </a:t>
            </a:r>
            <a:r>
              <a:rPr lang="en-US" sz="2100" dirty="0"/>
              <a:t>1C</a:t>
            </a:r>
            <a:r>
              <a:rPr lang="en-US" sz="2100" spc="-20" dirty="0"/>
              <a:t> </a:t>
            </a:r>
            <a:r>
              <a:rPr lang="en-US" sz="2100" dirty="0"/>
              <a:t>(e.g.,</a:t>
            </a:r>
            <a:r>
              <a:rPr lang="en-US" sz="2100" spc="-50" dirty="0"/>
              <a:t> </a:t>
            </a:r>
            <a:r>
              <a:rPr lang="en-US" sz="2100" dirty="0"/>
              <a:t>for</a:t>
            </a:r>
            <a:r>
              <a:rPr lang="en-US" sz="2100" spc="-45" dirty="0"/>
              <a:t> </a:t>
            </a:r>
            <a:r>
              <a:rPr lang="en-US" sz="2100" dirty="0"/>
              <a:t>a</a:t>
            </a:r>
            <a:r>
              <a:rPr lang="en-US" sz="2100" spc="-20" dirty="0"/>
              <a:t> </a:t>
            </a:r>
            <a:r>
              <a:rPr lang="en-US" sz="2100" dirty="0"/>
              <a:t>2000mAh</a:t>
            </a:r>
            <a:r>
              <a:rPr lang="en-US" sz="2100" spc="-35" dirty="0"/>
              <a:t> </a:t>
            </a:r>
            <a:r>
              <a:rPr lang="en-US" sz="2100" spc="-10" dirty="0"/>
              <a:t>battery,</a:t>
            </a:r>
            <a:r>
              <a:rPr lang="en-US" sz="2100" spc="-25" dirty="0"/>
              <a:t> </a:t>
            </a:r>
            <a:r>
              <a:rPr lang="en-US" sz="2100" dirty="0"/>
              <a:t>charge</a:t>
            </a:r>
            <a:r>
              <a:rPr lang="en-US" sz="2100" spc="-55" dirty="0"/>
              <a:t> </a:t>
            </a:r>
            <a:r>
              <a:rPr lang="en-US" sz="2100" dirty="0"/>
              <a:t>at</a:t>
            </a:r>
            <a:r>
              <a:rPr lang="en-US" sz="2100" spc="-30" dirty="0"/>
              <a:t> </a:t>
            </a:r>
            <a:r>
              <a:rPr lang="en-US" sz="2100" dirty="0"/>
              <a:t>1A</a:t>
            </a:r>
            <a:r>
              <a:rPr lang="en-US" sz="2100" spc="-85" dirty="0"/>
              <a:t> </a:t>
            </a:r>
            <a:r>
              <a:rPr lang="en-US" sz="2100" spc="-10" dirty="0"/>
              <a:t>max).</a:t>
            </a:r>
            <a:endParaRPr lang="en-US" sz="2100" dirty="0"/>
          </a:p>
          <a:p>
            <a:pPr>
              <a:lnSpc>
                <a:spcPct val="100000"/>
              </a:lnSpc>
              <a:spcBef>
                <a:spcPts val="60"/>
              </a:spcBef>
            </a:pPr>
            <a:endParaRPr lang="en-US" sz="2100" dirty="0"/>
          </a:p>
          <a:p>
            <a:pPr marL="52069" algn="ctr">
              <a:lnSpc>
                <a:spcPct val="100000"/>
              </a:lnSpc>
            </a:pPr>
            <a:r>
              <a:rPr lang="en-US" sz="2100" b="1" u="sng" spc="-10" dirty="0">
                <a:uFill>
                  <a:solidFill>
                    <a:srgbClr val="0D2041"/>
                  </a:solidFill>
                </a:uFill>
                <a:latin typeface="Arial"/>
                <a:cs typeface="Arial"/>
              </a:rPr>
              <a:t>Applications</a:t>
            </a:r>
            <a:endParaRPr lang="en-US" sz="2100" dirty="0">
              <a:latin typeface="Arial"/>
              <a:cs typeface="Arial"/>
            </a:endParaRPr>
          </a:p>
          <a:p>
            <a:pPr marL="299085" indent="-286385">
              <a:lnSpc>
                <a:spcPct val="100000"/>
              </a:lnSpc>
              <a:buChar char="•"/>
              <a:tabLst>
                <a:tab pos="299085" algn="l"/>
              </a:tabLst>
            </a:pPr>
            <a:r>
              <a:rPr lang="en-US" sz="2100" spc="-10" dirty="0"/>
              <a:t>Smartphones</a:t>
            </a:r>
            <a:endParaRPr lang="en-US" sz="2100" dirty="0"/>
          </a:p>
          <a:p>
            <a:pPr marL="299085" indent="-286385">
              <a:lnSpc>
                <a:spcPct val="100000"/>
              </a:lnSpc>
              <a:buChar char="•"/>
              <a:tabLst>
                <a:tab pos="299085" algn="l"/>
              </a:tabLst>
            </a:pPr>
            <a:r>
              <a:rPr lang="en-US" sz="2100" spc="-10" dirty="0"/>
              <a:t>tablets</a:t>
            </a:r>
            <a:endParaRPr lang="en-US" sz="2100" dirty="0"/>
          </a:p>
          <a:p>
            <a:pPr marL="299085" indent="-286385">
              <a:lnSpc>
                <a:spcPct val="100000"/>
              </a:lnSpc>
              <a:buChar char="•"/>
              <a:tabLst>
                <a:tab pos="299085" algn="l"/>
              </a:tabLst>
            </a:pPr>
            <a:r>
              <a:rPr lang="en-US" sz="2100" spc="-10" dirty="0"/>
              <a:t>laptops</a:t>
            </a:r>
            <a:endParaRPr lang="en-US" sz="2100" dirty="0"/>
          </a:p>
          <a:p>
            <a:pPr marL="299085" indent="-286385">
              <a:lnSpc>
                <a:spcPct val="100000"/>
              </a:lnSpc>
              <a:buChar char="•"/>
              <a:tabLst>
                <a:tab pos="299085" algn="l"/>
              </a:tabLst>
            </a:pPr>
            <a:r>
              <a:rPr lang="en-US" sz="2100" dirty="0"/>
              <a:t>Power</a:t>
            </a:r>
            <a:r>
              <a:rPr lang="en-US" sz="2100" spc="-15" dirty="0"/>
              <a:t> </a:t>
            </a:r>
            <a:r>
              <a:rPr lang="en-US" sz="2100" dirty="0" err="1"/>
              <a:t>banksDrones</a:t>
            </a:r>
            <a:r>
              <a:rPr lang="en-US" sz="2100" spc="-60" dirty="0"/>
              <a:t> </a:t>
            </a:r>
            <a:r>
              <a:rPr lang="en-US" sz="2100" dirty="0"/>
              <a:t>&amp;</a:t>
            </a:r>
            <a:r>
              <a:rPr lang="en-US" sz="2100" spc="-5" dirty="0"/>
              <a:t> </a:t>
            </a:r>
            <a:r>
              <a:rPr lang="en-US" sz="2100" dirty="0"/>
              <a:t>RC</a:t>
            </a:r>
            <a:r>
              <a:rPr lang="en-US" sz="2100" spc="-10" dirty="0"/>
              <a:t> </a:t>
            </a:r>
            <a:r>
              <a:rPr lang="en-US" sz="2100" spc="-10" dirty="0" err="1"/>
              <a:t>toysWearable</a:t>
            </a:r>
            <a:r>
              <a:rPr lang="en-US" sz="2100" spc="-45" dirty="0"/>
              <a:t> </a:t>
            </a:r>
            <a:r>
              <a:rPr lang="en-US" sz="2100" dirty="0"/>
              <a:t>devices</a:t>
            </a:r>
            <a:r>
              <a:rPr lang="en-US" sz="2100" spc="-25" dirty="0"/>
              <a:t> </a:t>
            </a:r>
            <a:r>
              <a:rPr lang="en-US" sz="2100" dirty="0"/>
              <a:t>(smartwatches,</a:t>
            </a:r>
            <a:r>
              <a:rPr lang="en-US" sz="2100" spc="-60" dirty="0"/>
              <a:t> </a:t>
            </a:r>
            <a:r>
              <a:rPr lang="en-US" sz="2100" dirty="0"/>
              <a:t>fitness</a:t>
            </a:r>
            <a:r>
              <a:rPr lang="en-US" sz="2100" spc="-45" dirty="0"/>
              <a:t> </a:t>
            </a:r>
            <a:r>
              <a:rPr lang="en-US" sz="2100" spc="-10" dirty="0"/>
              <a:t>bands)</a:t>
            </a:r>
            <a:endParaRPr lang="en-US" sz="2100" dirty="0"/>
          </a:p>
          <a:p>
            <a:pPr marL="299085" indent="-286385">
              <a:lnSpc>
                <a:spcPct val="100000"/>
              </a:lnSpc>
              <a:buChar char="•"/>
              <a:tabLst>
                <a:tab pos="299085" algn="l"/>
              </a:tabLst>
            </a:pPr>
            <a:r>
              <a:rPr lang="en-US" sz="2100" dirty="0"/>
              <a:t>LED</a:t>
            </a:r>
            <a:r>
              <a:rPr lang="en-US" sz="2100" spc="-30" dirty="0"/>
              <a:t> </a:t>
            </a:r>
            <a:r>
              <a:rPr lang="en-US" sz="2100" dirty="0"/>
              <a:t>lights</a:t>
            </a:r>
            <a:r>
              <a:rPr lang="en-US" sz="2100" spc="-20" dirty="0"/>
              <a:t> </a:t>
            </a:r>
            <a:r>
              <a:rPr lang="en-US" sz="2100" dirty="0"/>
              <a:t>&amp;</a:t>
            </a:r>
            <a:r>
              <a:rPr lang="en-US" sz="2100" spc="-15" dirty="0"/>
              <a:t> </a:t>
            </a:r>
            <a:r>
              <a:rPr lang="en-US" sz="2100" spc="-10" dirty="0"/>
              <a:t>flashlights</a:t>
            </a:r>
            <a:endParaRPr lang="en-US" sz="2100" dirty="0"/>
          </a:p>
          <a:p>
            <a:pPr algn="l">
              <a:buFont typeface="Arial" panose="020B0604020202020204" pitchFamily="34" charset="0"/>
              <a:buChar char="•"/>
            </a:pPr>
            <a:endParaRPr lang="en-IN" dirty="0"/>
          </a:p>
        </p:txBody>
      </p:sp>
      <p:pic>
        <p:nvPicPr>
          <p:cNvPr id="4" name="Picture 3">
            <a:extLst>
              <a:ext uri="{FF2B5EF4-FFF2-40B4-BE49-F238E27FC236}">
                <a16:creationId xmlns:a16="http://schemas.microsoft.com/office/drawing/2014/main" id="{EA09B4DF-3B50-798C-75CC-1839EFF917A2}"/>
              </a:ext>
            </a:extLst>
          </p:cNvPr>
          <p:cNvPicPr>
            <a:picLocks noChangeAspect="1"/>
          </p:cNvPicPr>
          <p:nvPr/>
        </p:nvPicPr>
        <p:blipFill>
          <a:blip r:embed="rId3"/>
          <a:srcRect t="16345" r="3248" b="23870"/>
          <a:stretch/>
        </p:blipFill>
        <p:spPr>
          <a:xfrm>
            <a:off x="8416413" y="2542906"/>
            <a:ext cx="3696929" cy="2759010"/>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675199" y="767262"/>
            <a:ext cx="7631709" cy="1091627"/>
          </a:xfrm>
        </p:spPr>
        <p:txBody>
          <a:bodyPr/>
          <a:lstStyle/>
          <a:p>
            <a:pPr algn="ctr"/>
            <a:r>
              <a:rPr lang="en-IN" sz="6000" spc="-10" dirty="0">
                <a:latin typeface="Arial MT"/>
                <a:cs typeface="Arial MT"/>
              </a:rPr>
              <a:t>Circuit</a:t>
            </a:r>
            <a:endParaRPr lang="en-US" sz="3200" dirty="0"/>
          </a:p>
        </p:txBody>
      </p:sp>
      <p:sp>
        <p:nvSpPr>
          <p:cNvPr id="9" name="Content Placeholder 8">
            <a:extLst>
              <a:ext uri="{FF2B5EF4-FFF2-40B4-BE49-F238E27FC236}">
                <a16:creationId xmlns:a16="http://schemas.microsoft.com/office/drawing/2014/main" id="{4208A076-CCC0-E457-E2CC-825A01ADAE3B}"/>
              </a:ext>
            </a:extLst>
          </p:cNvPr>
          <p:cNvSpPr>
            <a:spLocks noGrp="1"/>
          </p:cNvSpPr>
          <p:nvPr>
            <p:ph sz="half" idx="1"/>
          </p:nvPr>
        </p:nvSpPr>
        <p:spPr>
          <a:xfrm>
            <a:off x="669471" y="1839599"/>
            <a:ext cx="8458199" cy="4528543"/>
          </a:xfrm>
        </p:spPr>
        <p:txBody>
          <a:bodyPr>
            <a:normAutofit/>
          </a:bodyPr>
          <a:lstStyle/>
          <a:p>
            <a:pPr marL="457200" lvl="1" indent="0" algn="l">
              <a:buNone/>
            </a:pPr>
            <a:endParaRPr lang="en-US" sz="2200" b="0" i="0" dirty="0">
              <a:solidFill>
                <a:srgbClr val="374151"/>
              </a:solidFill>
              <a:effectLst/>
              <a:latin typeface="__Inter_d65c78"/>
            </a:endParaRPr>
          </a:p>
          <a:p>
            <a:br>
              <a:rPr lang="en-US" dirty="0"/>
            </a:br>
            <a:endParaRPr lang="en-IN" sz="2000" dirty="0"/>
          </a:p>
        </p:txBody>
      </p:sp>
      <p:pic>
        <p:nvPicPr>
          <p:cNvPr id="2" name="object 3">
            <a:extLst>
              <a:ext uri="{FF2B5EF4-FFF2-40B4-BE49-F238E27FC236}">
                <a16:creationId xmlns:a16="http://schemas.microsoft.com/office/drawing/2014/main" id="{E1C356CD-8710-4F39-97D0-51282EC2BEF3}"/>
              </a:ext>
            </a:extLst>
          </p:cNvPr>
          <p:cNvPicPr/>
          <p:nvPr/>
        </p:nvPicPr>
        <p:blipFill>
          <a:blip r:embed="rId3" cstate="print"/>
          <a:stretch>
            <a:fillRect/>
          </a:stretch>
        </p:blipFill>
        <p:spPr>
          <a:xfrm>
            <a:off x="675200" y="2181726"/>
            <a:ext cx="10153222" cy="4411579"/>
          </a:xfrm>
          <a:prstGeom prst="rect">
            <a:avLst/>
          </a:prstGeom>
        </p:spPr>
      </p:pic>
    </p:spTree>
    <p:extLst>
      <p:ext uri="{BB962C8B-B14F-4D97-AF65-F5344CB8AC3E}">
        <p14:creationId xmlns:p14="http://schemas.microsoft.com/office/powerpoint/2010/main" val="1941619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3B6BC-0AEE-38C5-D232-A75969A955E4}"/>
              </a:ext>
            </a:extLst>
          </p:cNvPr>
          <p:cNvSpPr>
            <a:spLocks noGrp="1"/>
          </p:cNvSpPr>
          <p:nvPr>
            <p:ph type="title"/>
          </p:nvPr>
        </p:nvSpPr>
        <p:spPr>
          <a:xfrm>
            <a:off x="641684" y="965393"/>
            <a:ext cx="8347770" cy="1091627"/>
          </a:xfrm>
        </p:spPr>
        <p:txBody>
          <a:bodyPr/>
          <a:lstStyle/>
          <a:p>
            <a:r>
              <a:rPr lang="en-US" sz="3600" dirty="0">
                <a:solidFill>
                  <a:srgbClr val="0D2041"/>
                </a:solidFill>
                <a:latin typeface="Arial MT"/>
                <a:cs typeface="Arial MT"/>
              </a:rPr>
              <a:t>Advantages</a:t>
            </a:r>
            <a:r>
              <a:rPr lang="en-US" sz="3600" spc="-45" dirty="0">
                <a:solidFill>
                  <a:srgbClr val="0D2041"/>
                </a:solidFill>
                <a:latin typeface="Arial MT"/>
                <a:cs typeface="Arial MT"/>
              </a:rPr>
              <a:t> </a:t>
            </a:r>
            <a:r>
              <a:rPr lang="en-US" sz="3600" dirty="0">
                <a:solidFill>
                  <a:srgbClr val="0D2041"/>
                </a:solidFill>
                <a:latin typeface="Arial MT"/>
                <a:cs typeface="Arial MT"/>
              </a:rPr>
              <a:t>&amp;</a:t>
            </a:r>
            <a:r>
              <a:rPr lang="en-US" sz="3600" spc="-25" dirty="0">
                <a:solidFill>
                  <a:srgbClr val="0D2041"/>
                </a:solidFill>
                <a:latin typeface="Arial MT"/>
                <a:cs typeface="Arial MT"/>
              </a:rPr>
              <a:t> </a:t>
            </a:r>
            <a:r>
              <a:rPr lang="en-US" sz="3600" dirty="0">
                <a:solidFill>
                  <a:srgbClr val="0D2041"/>
                </a:solidFill>
                <a:latin typeface="Arial MT"/>
                <a:cs typeface="Arial MT"/>
              </a:rPr>
              <a:t>Disadvantages</a:t>
            </a:r>
            <a:r>
              <a:rPr lang="en-US" sz="3600" spc="-50" dirty="0">
                <a:solidFill>
                  <a:srgbClr val="0D2041"/>
                </a:solidFill>
                <a:latin typeface="Arial MT"/>
                <a:cs typeface="Arial MT"/>
              </a:rPr>
              <a:t> </a:t>
            </a:r>
            <a:r>
              <a:rPr lang="en-US" sz="3600" dirty="0">
                <a:solidFill>
                  <a:srgbClr val="0D2041"/>
                </a:solidFill>
                <a:latin typeface="Arial MT"/>
                <a:cs typeface="Arial MT"/>
              </a:rPr>
              <a:t>of</a:t>
            </a:r>
            <a:r>
              <a:rPr lang="en-US" sz="3600" spc="-30" dirty="0">
                <a:solidFill>
                  <a:srgbClr val="0D2041"/>
                </a:solidFill>
                <a:latin typeface="Arial MT"/>
                <a:cs typeface="Arial MT"/>
              </a:rPr>
              <a:t> </a:t>
            </a:r>
            <a:r>
              <a:rPr lang="en-US" sz="3600" dirty="0">
                <a:solidFill>
                  <a:srgbClr val="0D2041"/>
                </a:solidFill>
                <a:latin typeface="Arial MT"/>
                <a:cs typeface="Arial MT"/>
              </a:rPr>
              <a:t>Piezoelectric</a:t>
            </a:r>
            <a:r>
              <a:rPr lang="en-US" sz="3600" spc="-50" dirty="0">
                <a:solidFill>
                  <a:srgbClr val="0D2041"/>
                </a:solidFill>
                <a:latin typeface="Arial MT"/>
                <a:cs typeface="Arial MT"/>
              </a:rPr>
              <a:t> </a:t>
            </a:r>
            <a:r>
              <a:rPr lang="en-US" sz="3600" spc="-10" dirty="0">
                <a:solidFill>
                  <a:srgbClr val="0D2041"/>
                </a:solidFill>
                <a:latin typeface="Arial MT"/>
                <a:cs typeface="Arial MT"/>
              </a:rPr>
              <a:t>Sensors</a:t>
            </a:r>
            <a:br>
              <a:rPr lang="en-US" sz="3600" dirty="0">
                <a:latin typeface="Arial MT"/>
                <a:cs typeface="Arial MT"/>
              </a:rPr>
            </a:br>
            <a:endParaRPr lang="en-IN" dirty="0"/>
          </a:p>
        </p:txBody>
      </p:sp>
      <p:sp>
        <p:nvSpPr>
          <p:cNvPr id="3" name="Content Placeholder 2">
            <a:extLst>
              <a:ext uri="{FF2B5EF4-FFF2-40B4-BE49-F238E27FC236}">
                <a16:creationId xmlns:a16="http://schemas.microsoft.com/office/drawing/2014/main" id="{0CFD85D0-8304-239B-664C-008E93C85C43}"/>
              </a:ext>
            </a:extLst>
          </p:cNvPr>
          <p:cNvSpPr>
            <a:spLocks noGrp="1"/>
          </p:cNvSpPr>
          <p:nvPr>
            <p:ph sz="half" idx="15"/>
          </p:nvPr>
        </p:nvSpPr>
        <p:spPr/>
        <p:txBody>
          <a:bodyPr/>
          <a:lstStyle/>
          <a:p>
            <a:endParaRPr lang="en-IN" dirty="0"/>
          </a:p>
        </p:txBody>
      </p:sp>
      <p:graphicFrame>
        <p:nvGraphicFramePr>
          <p:cNvPr id="8" name="Content Placeholder 7">
            <a:extLst>
              <a:ext uri="{FF2B5EF4-FFF2-40B4-BE49-F238E27FC236}">
                <a16:creationId xmlns:a16="http://schemas.microsoft.com/office/drawing/2014/main" id="{B3892BCD-42DD-4498-9B0D-536392C25355}"/>
              </a:ext>
            </a:extLst>
          </p:cNvPr>
          <p:cNvGraphicFramePr>
            <a:graphicFrameLocks noGrp="1"/>
          </p:cNvGraphicFramePr>
          <p:nvPr>
            <p:ph sz="half" idx="1"/>
            <p:extLst>
              <p:ext uri="{D42A27DB-BD31-4B8C-83A1-F6EECF244321}">
                <p14:modId xmlns:p14="http://schemas.microsoft.com/office/powerpoint/2010/main" val="1263639778"/>
              </p:ext>
            </p:extLst>
          </p:nvPr>
        </p:nvGraphicFramePr>
        <p:xfrm>
          <a:off x="641684" y="1941095"/>
          <a:ext cx="7972924" cy="4519218"/>
        </p:xfrm>
        <a:graphic>
          <a:graphicData uri="http://schemas.openxmlformats.org/drawingml/2006/table">
            <a:tbl>
              <a:tblPr firstRow="1" bandRow="1">
                <a:tableStyleId>{0660B408-B3CF-4A94-85FC-2B1E0A45F4A2}</a:tableStyleId>
              </a:tblPr>
              <a:tblGrid>
                <a:gridCol w="3986462">
                  <a:extLst>
                    <a:ext uri="{9D8B030D-6E8A-4147-A177-3AD203B41FA5}">
                      <a16:colId xmlns:a16="http://schemas.microsoft.com/office/drawing/2014/main" val="4145754715"/>
                    </a:ext>
                  </a:extLst>
                </a:gridCol>
                <a:gridCol w="3986462">
                  <a:extLst>
                    <a:ext uri="{9D8B030D-6E8A-4147-A177-3AD203B41FA5}">
                      <a16:colId xmlns:a16="http://schemas.microsoft.com/office/drawing/2014/main" val="435764305"/>
                    </a:ext>
                  </a:extLst>
                </a:gridCol>
              </a:tblGrid>
              <a:tr h="842289">
                <a:tc>
                  <a:txBody>
                    <a:bodyPr/>
                    <a:lstStyle/>
                    <a:p>
                      <a:r>
                        <a:rPr lang="en-IN" sz="3600" b="1" spc="-10" dirty="0">
                          <a:solidFill>
                            <a:schemeClr val="tx1">
                              <a:lumMod val="95000"/>
                              <a:lumOff val="5000"/>
                            </a:schemeClr>
                          </a:solidFill>
                          <a:latin typeface="Arial"/>
                          <a:cs typeface="Arial"/>
                        </a:rPr>
                        <a:t>Advantages</a:t>
                      </a:r>
                      <a:endParaRPr lang="en-IN" sz="3600" dirty="0">
                        <a:solidFill>
                          <a:schemeClr val="tx1">
                            <a:lumMod val="95000"/>
                            <a:lumOff val="5000"/>
                          </a:schemeClr>
                        </a:solidFill>
                      </a:endParaRPr>
                    </a:p>
                  </a:txBody>
                  <a:tcPr/>
                </a:tc>
                <a:tc>
                  <a:txBody>
                    <a:bodyPr/>
                    <a:lstStyle/>
                    <a:p>
                      <a:r>
                        <a:rPr lang="en-IN" sz="3200" b="1" spc="-10" dirty="0">
                          <a:solidFill>
                            <a:schemeClr val="tx1">
                              <a:lumMod val="95000"/>
                              <a:lumOff val="5000"/>
                            </a:schemeClr>
                          </a:solidFill>
                          <a:latin typeface="Arial"/>
                          <a:cs typeface="Arial"/>
                        </a:rPr>
                        <a:t>Disadvantages</a:t>
                      </a:r>
                      <a:endParaRPr lang="en-IN" sz="3200" dirty="0">
                        <a:solidFill>
                          <a:schemeClr val="tx1">
                            <a:lumMod val="95000"/>
                            <a:lumOff val="5000"/>
                          </a:schemeClr>
                        </a:solidFill>
                      </a:endParaRPr>
                    </a:p>
                  </a:txBody>
                  <a:tcPr/>
                </a:tc>
                <a:extLst>
                  <a:ext uri="{0D108BD9-81ED-4DB2-BD59-A6C34878D82A}">
                    <a16:rowId xmlns:a16="http://schemas.microsoft.com/office/drawing/2014/main" val="3771767081"/>
                  </a:ext>
                </a:extLst>
              </a:tr>
              <a:tr h="9925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0D2041"/>
                          </a:solidFill>
                          <a:latin typeface="Arial MT"/>
                          <a:cs typeface="Arial MT"/>
                        </a:rPr>
                        <a:t>High</a:t>
                      </a:r>
                      <a:r>
                        <a:rPr lang="en-US" sz="2400" spc="-40" dirty="0">
                          <a:solidFill>
                            <a:srgbClr val="0D2041"/>
                          </a:solidFill>
                          <a:latin typeface="Arial MT"/>
                          <a:cs typeface="Arial MT"/>
                        </a:rPr>
                        <a:t> </a:t>
                      </a:r>
                      <a:r>
                        <a:rPr lang="en-US" sz="2400" dirty="0">
                          <a:solidFill>
                            <a:srgbClr val="0D2041"/>
                          </a:solidFill>
                          <a:latin typeface="Arial MT"/>
                          <a:cs typeface="Arial MT"/>
                        </a:rPr>
                        <a:t>sensitivity</a:t>
                      </a:r>
                      <a:r>
                        <a:rPr lang="en-US" sz="2400" spc="-30" dirty="0">
                          <a:solidFill>
                            <a:srgbClr val="0D2041"/>
                          </a:solidFill>
                          <a:latin typeface="Arial MT"/>
                          <a:cs typeface="Arial MT"/>
                        </a:rPr>
                        <a:t> </a:t>
                      </a:r>
                      <a:r>
                        <a:rPr lang="en-US" sz="2400" dirty="0">
                          <a:solidFill>
                            <a:srgbClr val="0D2041"/>
                          </a:solidFill>
                          <a:latin typeface="Arial MT"/>
                          <a:cs typeface="Arial MT"/>
                        </a:rPr>
                        <a:t>to</a:t>
                      </a:r>
                      <a:r>
                        <a:rPr lang="en-US" sz="2400" spc="-55" dirty="0">
                          <a:solidFill>
                            <a:srgbClr val="0D2041"/>
                          </a:solidFill>
                          <a:latin typeface="Arial MT"/>
                          <a:cs typeface="Arial MT"/>
                        </a:rPr>
                        <a:t> </a:t>
                      </a:r>
                      <a:r>
                        <a:rPr lang="en-US" sz="2400" spc="-10" dirty="0">
                          <a:solidFill>
                            <a:srgbClr val="0D2041"/>
                          </a:solidFill>
                          <a:latin typeface="Arial MT"/>
                          <a:cs typeface="Arial MT"/>
                        </a:rPr>
                        <a:t>small forces</a:t>
                      </a:r>
                      <a:endParaRPr lang="en-US" sz="2400" dirty="0">
                        <a:latin typeface="Arial MT"/>
                        <a:cs typeface="Arial MT"/>
                      </a:endParaRPr>
                    </a:p>
                    <a:p>
                      <a:endParaRPr lang="en-IN"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0D2041"/>
                          </a:solidFill>
                          <a:latin typeface="Arial MT"/>
                          <a:cs typeface="Arial MT"/>
                        </a:rPr>
                        <a:t>Cannot</a:t>
                      </a:r>
                      <a:r>
                        <a:rPr lang="en-US" sz="2000" spc="-25" dirty="0">
                          <a:solidFill>
                            <a:srgbClr val="0D2041"/>
                          </a:solidFill>
                          <a:latin typeface="Arial MT"/>
                          <a:cs typeface="Arial MT"/>
                        </a:rPr>
                        <a:t> </a:t>
                      </a:r>
                      <a:r>
                        <a:rPr lang="en-US" sz="2000" dirty="0">
                          <a:solidFill>
                            <a:srgbClr val="0D2041"/>
                          </a:solidFill>
                          <a:latin typeface="Arial MT"/>
                          <a:cs typeface="Arial MT"/>
                        </a:rPr>
                        <a:t>measure</a:t>
                      </a:r>
                      <a:r>
                        <a:rPr lang="en-US" sz="2000" spc="-25" dirty="0">
                          <a:solidFill>
                            <a:srgbClr val="0D2041"/>
                          </a:solidFill>
                          <a:latin typeface="Arial MT"/>
                          <a:cs typeface="Arial MT"/>
                        </a:rPr>
                        <a:t> </a:t>
                      </a:r>
                      <a:r>
                        <a:rPr lang="en-US" sz="2000" spc="-10" dirty="0">
                          <a:solidFill>
                            <a:srgbClr val="0D2041"/>
                          </a:solidFill>
                          <a:latin typeface="Arial MT"/>
                          <a:cs typeface="Arial MT"/>
                        </a:rPr>
                        <a:t>static </a:t>
                      </a:r>
                      <a:r>
                        <a:rPr lang="en-US" sz="2000" dirty="0">
                          <a:solidFill>
                            <a:srgbClr val="0D2041"/>
                          </a:solidFill>
                          <a:latin typeface="Arial MT"/>
                          <a:cs typeface="Arial MT"/>
                        </a:rPr>
                        <a:t>forces</a:t>
                      </a:r>
                      <a:r>
                        <a:rPr lang="en-US" sz="2000" spc="-35" dirty="0">
                          <a:solidFill>
                            <a:srgbClr val="0D2041"/>
                          </a:solidFill>
                          <a:latin typeface="Arial MT"/>
                          <a:cs typeface="Arial MT"/>
                        </a:rPr>
                        <a:t> </a:t>
                      </a:r>
                      <a:r>
                        <a:rPr lang="en-US" sz="2000" dirty="0">
                          <a:solidFill>
                            <a:srgbClr val="0D2041"/>
                          </a:solidFill>
                          <a:latin typeface="Arial MT"/>
                          <a:cs typeface="Arial MT"/>
                        </a:rPr>
                        <a:t>(only</a:t>
                      </a:r>
                      <a:r>
                        <a:rPr lang="en-US" sz="2000" spc="-25" dirty="0">
                          <a:solidFill>
                            <a:srgbClr val="0D2041"/>
                          </a:solidFill>
                          <a:latin typeface="Arial MT"/>
                          <a:cs typeface="Arial MT"/>
                        </a:rPr>
                        <a:t> </a:t>
                      </a:r>
                      <a:r>
                        <a:rPr lang="en-US" sz="2000" spc="-10" dirty="0">
                          <a:solidFill>
                            <a:srgbClr val="0D2041"/>
                          </a:solidFill>
                          <a:latin typeface="Arial MT"/>
                          <a:cs typeface="Arial MT"/>
                        </a:rPr>
                        <a:t>dynamic changes)</a:t>
                      </a:r>
                      <a:endParaRPr lang="en-US" sz="2000" dirty="0">
                        <a:latin typeface="Arial MT"/>
                        <a:cs typeface="Arial MT"/>
                      </a:endParaRPr>
                    </a:p>
                    <a:p>
                      <a:endParaRPr lang="en-IN" sz="2000" dirty="0"/>
                    </a:p>
                  </a:txBody>
                  <a:tcPr/>
                </a:tc>
                <a:extLst>
                  <a:ext uri="{0D108BD9-81ED-4DB2-BD59-A6C34878D82A}">
                    <a16:rowId xmlns:a16="http://schemas.microsoft.com/office/drawing/2014/main" val="1753850115"/>
                  </a:ext>
                </a:extLst>
              </a:tr>
              <a:tr h="9925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rgbClr val="0D2041"/>
                          </a:solidFill>
                          <a:latin typeface="Arial MT"/>
                          <a:cs typeface="Arial MT"/>
                        </a:rPr>
                        <a:t>No</a:t>
                      </a:r>
                      <a:r>
                        <a:rPr lang="en-IN" sz="2000" spc="-50" dirty="0">
                          <a:solidFill>
                            <a:srgbClr val="0D2041"/>
                          </a:solidFill>
                          <a:latin typeface="Arial MT"/>
                          <a:cs typeface="Arial MT"/>
                        </a:rPr>
                        <a:t> </a:t>
                      </a:r>
                      <a:r>
                        <a:rPr lang="en-IN" sz="2000" dirty="0">
                          <a:solidFill>
                            <a:srgbClr val="0D2041"/>
                          </a:solidFill>
                          <a:latin typeface="Arial MT"/>
                          <a:cs typeface="Arial MT"/>
                        </a:rPr>
                        <a:t>external</a:t>
                      </a:r>
                      <a:r>
                        <a:rPr lang="en-IN" sz="2000" spc="-25" dirty="0">
                          <a:solidFill>
                            <a:srgbClr val="0D2041"/>
                          </a:solidFill>
                          <a:latin typeface="Arial MT"/>
                          <a:cs typeface="Arial MT"/>
                        </a:rPr>
                        <a:t> </a:t>
                      </a:r>
                      <a:r>
                        <a:rPr lang="en-IN" sz="2000" dirty="0">
                          <a:solidFill>
                            <a:srgbClr val="0D2041"/>
                          </a:solidFill>
                          <a:latin typeface="Arial MT"/>
                          <a:cs typeface="Arial MT"/>
                        </a:rPr>
                        <a:t>power</a:t>
                      </a:r>
                      <a:r>
                        <a:rPr lang="en-IN" sz="2000" spc="5" dirty="0">
                          <a:solidFill>
                            <a:srgbClr val="0D2041"/>
                          </a:solidFill>
                          <a:latin typeface="Arial MT"/>
                          <a:cs typeface="Arial MT"/>
                        </a:rPr>
                        <a:t> </a:t>
                      </a:r>
                      <a:r>
                        <a:rPr lang="en-IN" sz="2000" spc="-10" dirty="0">
                          <a:solidFill>
                            <a:srgbClr val="0D2041"/>
                          </a:solidFill>
                          <a:latin typeface="Arial MT"/>
                          <a:cs typeface="Arial MT"/>
                        </a:rPr>
                        <a:t>required</a:t>
                      </a:r>
                      <a:endParaRPr lang="en-IN" sz="2000" dirty="0">
                        <a:latin typeface="Arial MT"/>
                        <a:cs typeface="Arial MT"/>
                      </a:endParaRPr>
                    </a:p>
                    <a:p>
                      <a:endParaRPr lang="en-IN"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rgbClr val="0D2041"/>
                          </a:solidFill>
                          <a:latin typeface="Arial MT"/>
                          <a:cs typeface="Arial MT"/>
                        </a:rPr>
                        <a:t>Requires</a:t>
                      </a:r>
                      <a:r>
                        <a:rPr lang="en-IN" sz="2000" spc="-25" dirty="0">
                          <a:solidFill>
                            <a:srgbClr val="0D2041"/>
                          </a:solidFill>
                          <a:latin typeface="Arial MT"/>
                          <a:cs typeface="Arial MT"/>
                        </a:rPr>
                        <a:t> </a:t>
                      </a:r>
                      <a:r>
                        <a:rPr lang="en-IN" sz="2000" dirty="0">
                          <a:solidFill>
                            <a:srgbClr val="0D2041"/>
                          </a:solidFill>
                          <a:latin typeface="Arial MT"/>
                          <a:cs typeface="Arial MT"/>
                        </a:rPr>
                        <a:t>signal</a:t>
                      </a:r>
                      <a:r>
                        <a:rPr lang="en-IN" sz="2000" spc="-30" dirty="0">
                          <a:solidFill>
                            <a:srgbClr val="0D2041"/>
                          </a:solidFill>
                          <a:latin typeface="Arial MT"/>
                          <a:cs typeface="Arial MT"/>
                        </a:rPr>
                        <a:t> </a:t>
                      </a:r>
                      <a:r>
                        <a:rPr lang="en-IN" sz="2000" spc="-10" dirty="0">
                          <a:solidFill>
                            <a:srgbClr val="0D2041"/>
                          </a:solidFill>
                          <a:latin typeface="Arial MT"/>
                          <a:cs typeface="Arial MT"/>
                        </a:rPr>
                        <a:t>conditioning </a:t>
                      </a:r>
                      <a:r>
                        <a:rPr lang="en-IN" sz="2000" dirty="0">
                          <a:solidFill>
                            <a:srgbClr val="0D2041"/>
                          </a:solidFill>
                          <a:latin typeface="Arial MT"/>
                          <a:cs typeface="Arial MT"/>
                        </a:rPr>
                        <a:t>(amplifiers,</a:t>
                      </a:r>
                      <a:r>
                        <a:rPr lang="en-IN" sz="2000" spc="-40" dirty="0">
                          <a:solidFill>
                            <a:srgbClr val="0D2041"/>
                          </a:solidFill>
                          <a:latin typeface="Arial MT"/>
                          <a:cs typeface="Arial MT"/>
                        </a:rPr>
                        <a:t> </a:t>
                      </a:r>
                      <a:r>
                        <a:rPr lang="en-IN" sz="2000" spc="-10" dirty="0">
                          <a:solidFill>
                            <a:srgbClr val="0D2041"/>
                          </a:solidFill>
                          <a:latin typeface="Arial MT"/>
                          <a:cs typeface="Arial MT"/>
                        </a:rPr>
                        <a:t>filters)</a:t>
                      </a:r>
                      <a:endParaRPr lang="en-IN" sz="2000" dirty="0">
                        <a:latin typeface="Arial MT"/>
                        <a:cs typeface="Arial MT"/>
                      </a:endParaRPr>
                    </a:p>
                    <a:p>
                      <a:endParaRPr lang="en-IN" sz="2000" dirty="0"/>
                    </a:p>
                  </a:txBody>
                  <a:tcPr/>
                </a:tc>
                <a:extLst>
                  <a:ext uri="{0D108BD9-81ED-4DB2-BD59-A6C34878D82A}">
                    <a16:rowId xmlns:a16="http://schemas.microsoft.com/office/drawing/2014/main" val="258323476"/>
                  </a:ext>
                </a:extLst>
              </a:tr>
              <a:tr h="406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rgbClr val="0D2041"/>
                          </a:solidFill>
                          <a:latin typeface="Arial MT"/>
                          <a:cs typeface="Arial MT"/>
                        </a:rPr>
                        <a:t>Fast</a:t>
                      </a:r>
                      <a:r>
                        <a:rPr lang="en-IN" sz="2000" spc="-30" dirty="0">
                          <a:solidFill>
                            <a:srgbClr val="0D2041"/>
                          </a:solidFill>
                          <a:latin typeface="Arial MT"/>
                          <a:cs typeface="Arial MT"/>
                        </a:rPr>
                        <a:t> </a:t>
                      </a:r>
                      <a:r>
                        <a:rPr lang="en-IN" sz="2000" dirty="0">
                          <a:solidFill>
                            <a:srgbClr val="0D2041"/>
                          </a:solidFill>
                          <a:latin typeface="Arial MT"/>
                          <a:cs typeface="Arial MT"/>
                        </a:rPr>
                        <a:t>response </a:t>
                      </a:r>
                      <a:r>
                        <a:rPr lang="en-IN" sz="2000" spc="-20" dirty="0">
                          <a:solidFill>
                            <a:srgbClr val="0D2041"/>
                          </a:solidFill>
                          <a:latin typeface="Arial MT"/>
                          <a:cs typeface="Arial MT"/>
                        </a:rPr>
                        <a:t>time</a:t>
                      </a:r>
                      <a:endParaRPr lang="en-IN" sz="2000" dirty="0">
                        <a:latin typeface="Arial MT"/>
                        <a:cs typeface="Arial MT"/>
                      </a:endParaRPr>
                    </a:p>
                    <a:p>
                      <a:endParaRPr lang="en-IN"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rgbClr val="0D2041"/>
                          </a:solidFill>
                          <a:latin typeface="Arial MT"/>
                          <a:cs typeface="Arial MT"/>
                        </a:rPr>
                        <a:t>Fragile</a:t>
                      </a:r>
                      <a:r>
                        <a:rPr lang="en-IN" sz="2000" spc="-15" dirty="0">
                          <a:solidFill>
                            <a:srgbClr val="0D2041"/>
                          </a:solidFill>
                          <a:latin typeface="Arial MT"/>
                          <a:cs typeface="Arial MT"/>
                        </a:rPr>
                        <a:t> </a:t>
                      </a:r>
                      <a:r>
                        <a:rPr lang="en-IN" sz="2000" dirty="0">
                          <a:solidFill>
                            <a:srgbClr val="0D2041"/>
                          </a:solidFill>
                          <a:latin typeface="Arial MT"/>
                          <a:cs typeface="Arial MT"/>
                        </a:rPr>
                        <a:t>in</a:t>
                      </a:r>
                      <a:r>
                        <a:rPr lang="en-IN" sz="2000" spc="-30" dirty="0">
                          <a:solidFill>
                            <a:srgbClr val="0D2041"/>
                          </a:solidFill>
                          <a:latin typeface="Arial MT"/>
                          <a:cs typeface="Arial MT"/>
                        </a:rPr>
                        <a:t> </a:t>
                      </a:r>
                      <a:r>
                        <a:rPr lang="en-IN" sz="2000" dirty="0">
                          <a:solidFill>
                            <a:srgbClr val="0D2041"/>
                          </a:solidFill>
                          <a:latin typeface="Arial MT"/>
                          <a:cs typeface="Arial MT"/>
                        </a:rPr>
                        <a:t>some</a:t>
                      </a:r>
                      <a:r>
                        <a:rPr lang="en-IN" sz="2000" spc="-10" dirty="0">
                          <a:solidFill>
                            <a:srgbClr val="0D2041"/>
                          </a:solidFill>
                          <a:latin typeface="Arial MT"/>
                          <a:cs typeface="Arial MT"/>
                        </a:rPr>
                        <a:t> cases</a:t>
                      </a:r>
                      <a:endParaRPr lang="en-IN" sz="2000" dirty="0">
                        <a:latin typeface="Arial MT"/>
                        <a:cs typeface="Arial MT"/>
                      </a:endParaRPr>
                    </a:p>
                    <a:p>
                      <a:endParaRPr lang="en-IN" sz="2000" dirty="0"/>
                    </a:p>
                  </a:txBody>
                  <a:tcPr/>
                </a:tc>
                <a:extLst>
                  <a:ext uri="{0D108BD9-81ED-4DB2-BD59-A6C34878D82A}">
                    <a16:rowId xmlns:a16="http://schemas.microsoft.com/office/drawing/2014/main" val="1093598816"/>
                  </a:ext>
                </a:extLst>
              </a:tr>
              <a:tr h="8422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rgbClr val="0D2041"/>
                          </a:solidFill>
                          <a:latin typeface="Arial MT"/>
                          <a:cs typeface="Arial MT"/>
                        </a:rPr>
                        <a:t>Compact</a:t>
                      </a:r>
                      <a:r>
                        <a:rPr lang="en-IN" sz="2000" spc="-20" dirty="0">
                          <a:solidFill>
                            <a:srgbClr val="0D2041"/>
                          </a:solidFill>
                          <a:latin typeface="Arial MT"/>
                          <a:cs typeface="Arial MT"/>
                        </a:rPr>
                        <a:t> </a:t>
                      </a:r>
                      <a:r>
                        <a:rPr lang="en-IN" sz="2000" dirty="0">
                          <a:solidFill>
                            <a:srgbClr val="0D2041"/>
                          </a:solidFill>
                          <a:latin typeface="Arial MT"/>
                          <a:cs typeface="Arial MT"/>
                        </a:rPr>
                        <a:t>and</a:t>
                      </a:r>
                      <a:r>
                        <a:rPr lang="en-IN" sz="2000" spc="-35" dirty="0">
                          <a:solidFill>
                            <a:srgbClr val="0D2041"/>
                          </a:solidFill>
                          <a:latin typeface="Arial MT"/>
                          <a:cs typeface="Arial MT"/>
                        </a:rPr>
                        <a:t> </a:t>
                      </a:r>
                      <a:r>
                        <a:rPr lang="en-IN" sz="2000" spc="-10" dirty="0">
                          <a:solidFill>
                            <a:srgbClr val="0D2041"/>
                          </a:solidFill>
                          <a:latin typeface="Arial MT"/>
                          <a:cs typeface="Arial MT"/>
                        </a:rPr>
                        <a:t>durable</a:t>
                      </a:r>
                      <a:endParaRPr lang="en-IN" sz="2000" dirty="0">
                        <a:latin typeface="Arial MT"/>
                        <a:cs typeface="Arial MT"/>
                      </a:endParaRPr>
                    </a:p>
                    <a:p>
                      <a:endParaRPr lang="en-IN" sz="2000" dirty="0"/>
                    </a:p>
                  </a:txBody>
                  <a:tcPr/>
                </a:tc>
                <a:tc>
                  <a:txBody>
                    <a:bodyPr/>
                    <a:lstStyle/>
                    <a:p>
                      <a:r>
                        <a:rPr lang="en-US" sz="2000" dirty="0"/>
                        <a:t>----------</a:t>
                      </a:r>
                      <a:endParaRPr lang="en-IN" sz="2000" dirty="0"/>
                    </a:p>
                  </a:txBody>
                  <a:tcPr/>
                </a:tc>
                <a:extLst>
                  <a:ext uri="{0D108BD9-81ED-4DB2-BD59-A6C34878D82A}">
                    <a16:rowId xmlns:a16="http://schemas.microsoft.com/office/drawing/2014/main" val="2678661342"/>
                  </a:ext>
                </a:extLst>
              </a:tr>
            </a:tbl>
          </a:graphicData>
        </a:graphic>
      </p:graphicFrame>
      <p:sp>
        <p:nvSpPr>
          <p:cNvPr id="5" name="Picture Placeholder 4">
            <a:extLst>
              <a:ext uri="{FF2B5EF4-FFF2-40B4-BE49-F238E27FC236}">
                <a16:creationId xmlns:a16="http://schemas.microsoft.com/office/drawing/2014/main" id="{BAF672F1-D37B-140D-B133-DD8D850BD092}"/>
              </a:ext>
            </a:extLst>
          </p:cNvPr>
          <p:cNvSpPr>
            <a:spLocks noGrp="1"/>
          </p:cNvSpPr>
          <p:nvPr>
            <p:ph type="pic" sz="quarter" idx="14"/>
          </p:nvPr>
        </p:nvSpPr>
        <p:spPr/>
      </p:sp>
      <p:sp>
        <p:nvSpPr>
          <p:cNvPr id="6" name="Slide Number Placeholder 5">
            <a:extLst>
              <a:ext uri="{FF2B5EF4-FFF2-40B4-BE49-F238E27FC236}">
                <a16:creationId xmlns:a16="http://schemas.microsoft.com/office/drawing/2014/main" id="{DCFD23C1-CF3A-A1B6-09D1-3835BF914A7B}"/>
              </a:ext>
            </a:extLst>
          </p:cNvPr>
          <p:cNvSpPr>
            <a:spLocks noGrp="1"/>
          </p:cNvSpPr>
          <p:nvPr>
            <p:ph type="sldNum" sz="quarter" idx="10"/>
          </p:nvPr>
        </p:nvSpPr>
        <p:spPr/>
        <p:txBody>
          <a:bodyPr/>
          <a:lstStyle/>
          <a:p>
            <a:fld id="{48F63A3B-78C7-47BE-AE5E-E10140E04643}" type="slidenum">
              <a:rPr lang="en-US" smtClean="0"/>
              <a:pPr/>
              <a:t>13</a:t>
            </a:fld>
            <a:endParaRPr lang="en-US" dirty="0"/>
          </a:p>
        </p:txBody>
      </p:sp>
      <p:pic>
        <p:nvPicPr>
          <p:cNvPr id="1030" name="Picture 6" descr="What are the Advantages / Disadvantages of Mechanical Seals? - Leak-Pack">
            <a:extLst>
              <a:ext uri="{FF2B5EF4-FFF2-40B4-BE49-F238E27FC236}">
                <a16:creationId xmlns:a16="http://schemas.microsoft.com/office/drawing/2014/main" id="{C5A4D35B-EF74-325B-851A-B3E3DE8CC8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4608" y="2303028"/>
            <a:ext cx="3559278" cy="2072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271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840186" y="832684"/>
            <a:ext cx="10511627" cy="1012785"/>
          </a:xfrm>
        </p:spPr>
        <p:txBody>
          <a:bodyPr/>
          <a:lstStyle/>
          <a:p>
            <a:r>
              <a:rPr lang="en-US" sz="4400" dirty="0"/>
              <a:t>CONCLUSION</a:t>
            </a:r>
          </a:p>
        </p:txBody>
      </p:sp>
      <p:sp>
        <p:nvSpPr>
          <p:cNvPr id="6" name="Content Placeholder 5">
            <a:extLst>
              <a:ext uri="{FF2B5EF4-FFF2-40B4-BE49-F238E27FC236}">
                <a16:creationId xmlns:a16="http://schemas.microsoft.com/office/drawing/2014/main" id="{F204150F-8594-3018-22FC-FA6C75FAA53B}"/>
              </a:ext>
            </a:extLst>
          </p:cNvPr>
          <p:cNvSpPr>
            <a:spLocks noGrp="1"/>
          </p:cNvSpPr>
          <p:nvPr>
            <p:ph sz="quarter" idx="4"/>
          </p:nvPr>
        </p:nvSpPr>
        <p:spPr>
          <a:xfrm>
            <a:off x="577517" y="1845469"/>
            <a:ext cx="7315200" cy="4812005"/>
          </a:xfrm>
        </p:spPr>
        <p:txBody>
          <a:bodyPr>
            <a:normAutofit lnSpcReduction="10000"/>
          </a:bodyPr>
          <a:lstStyle/>
          <a:p>
            <a:pPr marL="0" marR="5080" indent="0">
              <a:lnSpc>
                <a:spcPct val="90000"/>
              </a:lnSpc>
              <a:spcBef>
                <a:spcPts val="280"/>
              </a:spcBef>
              <a:buNone/>
            </a:pPr>
            <a:r>
              <a:rPr lang="en-US" sz="3200" spc="-10" dirty="0">
                <a:solidFill>
                  <a:srgbClr val="0D2041"/>
                </a:solidFill>
                <a:latin typeface="Calibri"/>
                <a:cs typeface="Calibri"/>
              </a:rPr>
              <a:t>Footstep</a:t>
            </a:r>
            <a:r>
              <a:rPr lang="en-US" sz="3200" spc="-45" dirty="0">
                <a:solidFill>
                  <a:srgbClr val="0D2041"/>
                </a:solidFill>
                <a:latin typeface="Calibri"/>
                <a:cs typeface="Calibri"/>
              </a:rPr>
              <a:t> </a:t>
            </a:r>
            <a:r>
              <a:rPr lang="en-US" sz="3200" dirty="0">
                <a:solidFill>
                  <a:srgbClr val="0D2041"/>
                </a:solidFill>
                <a:latin typeface="Calibri"/>
                <a:cs typeface="Calibri"/>
              </a:rPr>
              <a:t>energy</a:t>
            </a:r>
            <a:r>
              <a:rPr lang="en-US" sz="3200" spc="-35" dirty="0">
                <a:solidFill>
                  <a:srgbClr val="0D2041"/>
                </a:solidFill>
                <a:latin typeface="Calibri"/>
                <a:cs typeface="Calibri"/>
              </a:rPr>
              <a:t> </a:t>
            </a:r>
            <a:r>
              <a:rPr lang="en-US" sz="3200" dirty="0">
                <a:solidFill>
                  <a:srgbClr val="0D2041"/>
                </a:solidFill>
                <a:latin typeface="Calibri"/>
                <a:cs typeface="Calibri"/>
              </a:rPr>
              <a:t>harvesting</a:t>
            </a:r>
            <a:r>
              <a:rPr lang="en-US" sz="3200" spc="-50" dirty="0">
                <a:solidFill>
                  <a:srgbClr val="0D2041"/>
                </a:solidFill>
                <a:latin typeface="Calibri"/>
                <a:cs typeface="Calibri"/>
              </a:rPr>
              <a:t> </a:t>
            </a:r>
            <a:r>
              <a:rPr lang="en-US" sz="3200" spc="-10" dirty="0">
                <a:solidFill>
                  <a:srgbClr val="0D2041"/>
                </a:solidFill>
                <a:latin typeface="Calibri"/>
                <a:cs typeface="Calibri"/>
              </a:rPr>
              <a:t>presents</a:t>
            </a:r>
            <a:r>
              <a:rPr lang="en-US" sz="3200" spc="-40" dirty="0">
                <a:solidFill>
                  <a:srgbClr val="0D2041"/>
                </a:solidFill>
                <a:latin typeface="Calibri"/>
                <a:cs typeface="Calibri"/>
              </a:rPr>
              <a:t> </a:t>
            </a:r>
            <a:r>
              <a:rPr lang="en-US" sz="3200" spc="-50" dirty="0">
                <a:solidFill>
                  <a:srgbClr val="0D2041"/>
                </a:solidFill>
                <a:latin typeface="Calibri"/>
                <a:cs typeface="Calibri"/>
              </a:rPr>
              <a:t>a </a:t>
            </a:r>
            <a:r>
              <a:rPr lang="en-US" sz="3200" spc="-10" dirty="0">
                <a:solidFill>
                  <a:srgbClr val="0D2041"/>
                </a:solidFill>
                <a:latin typeface="Calibri"/>
                <a:cs typeface="Calibri"/>
              </a:rPr>
              <a:t>revolutionary</a:t>
            </a:r>
            <a:r>
              <a:rPr lang="en-US" sz="3200" spc="-40" dirty="0">
                <a:solidFill>
                  <a:srgbClr val="0D2041"/>
                </a:solidFill>
                <a:latin typeface="Calibri"/>
                <a:cs typeface="Calibri"/>
              </a:rPr>
              <a:t> </a:t>
            </a:r>
            <a:r>
              <a:rPr lang="en-US" sz="3200" dirty="0">
                <a:solidFill>
                  <a:srgbClr val="0D2041"/>
                </a:solidFill>
                <a:latin typeface="Calibri"/>
                <a:cs typeface="Calibri"/>
              </a:rPr>
              <a:t>approach</a:t>
            </a:r>
            <a:r>
              <a:rPr lang="en-US" sz="3200" spc="-25" dirty="0">
                <a:solidFill>
                  <a:srgbClr val="0D2041"/>
                </a:solidFill>
                <a:latin typeface="Calibri"/>
                <a:cs typeface="Calibri"/>
              </a:rPr>
              <a:t> </a:t>
            </a:r>
            <a:r>
              <a:rPr lang="en-US" sz="3200" dirty="0">
                <a:solidFill>
                  <a:srgbClr val="0D2041"/>
                </a:solidFill>
                <a:latin typeface="Calibri"/>
                <a:cs typeface="Calibri"/>
              </a:rPr>
              <a:t>to</a:t>
            </a:r>
            <a:r>
              <a:rPr lang="en-US" sz="3200" spc="-5" dirty="0">
                <a:solidFill>
                  <a:srgbClr val="0D2041"/>
                </a:solidFill>
                <a:latin typeface="Calibri"/>
                <a:cs typeface="Calibri"/>
              </a:rPr>
              <a:t> </a:t>
            </a:r>
            <a:r>
              <a:rPr lang="en-US" sz="3200" spc="-10" dirty="0">
                <a:solidFill>
                  <a:srgbClr val="0D2041"/>
                </a:solidFill>
                <a:latin typeface="Calibri"/>
                <a:cs typeface="Calibri"/>
              </a:rPr>
              <a:t>energy generation</a:t>
            </a:r>
            <a:r>
              <a:rPr lang="en-US" sz="3200" spc="-20" dirty="0">
                <a:solidFill>
                  <a:srgbClr val="0D2041"/>
                </a:solidFill>
                <a:latin typeface="Calibri"/>
                <a:cs typeface="Calibri"/>
              </a:rPr>
              <a:t> </a:t>
            </a:r>
            <a:r>
              <a:rPr lang="en-US" sz="3200" dirty="0">
                <a:solidFill>
                  <a:srgbClr val="0D2041"/>
                </a:solidFill>
                <a:latin typeface="Calibri"/>
                <a:cs typeface="Calibri"/>
              </a:rPr>
              <a:t>in</a:t>
            </a:r>
            <a:r>
              <a:rPr lang="en-US" sz="3200" spc="-5" dirty="0">
                <a:solidFill>
                  <a:srgbClr val="0D2041"/>
                </a:solidFill>
                <a:latin typeface="Calibri"/>
                <a:cs typeface="Calibri"/>
              </a:rPr>
              <a:t> </a:t>
            </a:r>
            <a:r>
              <a:rPr lang="en-US" sz="3200" dirty="0">
                <a:solidFill>
                  <a:srgbClr val="0D2041"/>
                </a:solidFill>
                <a:latin typeface="Calibri"/>
                <a:cs typeface="Calibri"/>
              </a:rPr>
              <a:t>urban</a:t>
            </a:r>
            <a:r>
              <a:rPr lang="en-US" sz="3200" spc="-15" dirty="0">
                <a:solidFill>
                  <a:srgbClr val="0D2041"/>
                </a:solidFill>
                <a:latin typeface="Calibri"/>
                <a:cs typeface="Calibri"/>
              </a:rPr>
              <a:t> </a:t>
            </a:r>
            <a:r>
              <a:rPr lang="en-US" sz="3200" spc="-10" dirty="0">
                <a:solidFill>
                  <a:srgbClr val="0D2041"/>
                </a:solidFill>
                <a:latin typeface="Calibri"/>
                <a:cs typeface="Calibri"/>
              </a:rPr>
              <a:t>environments.</a:t>
            </a:r>
            <a:r>
              <a:rPr lang="en-US" sz="3200" spc="-30" dirty="0">
                <a:solidFill>
                  <a:srgbClr val="0D2041"/>
                </a:solidFill>
                <a:latin typeface="Calibri"/>
                <a:cs typeface="Calibri"/>
              </a:rPr>
              <a:t> </a:t>
            </a:r>
            <a:r>
              <a:rPr lang="en-US" sz="3200" spc="-20" dirty="0">
                <a:solidFill>
                  <a:srgbClr val="0D2041"/>
                </a:solidFill>
                <a:latin typeface="Calibri"/>
                <a:cs typeface="Calibri"/>
              </a:rPr>
              <a:t>This </a:t>
            </a:r>
            <a:r>
              <a:rPr lang="en-US" sz="3200" spc="-10" dirty="0">
                <a:solidFill>
                  <a:srgbClr val="0D2041"/>
                </a:solidFill>
                <a:latin typeface="Calibri"/>
                <a:cs typeface="Calibri"/>
              </a:rPr>
              <a:t>technology</a:t>
            </a:r>
            <a:r>
              <a:rPr lang="en-US" sz="3200" spc="-60" dirty="0">
                <a:solidFill>
                  <a:srgbClr val="0D2041"/>
                </a:solidFill>
                <a:latin typeface="Calibri"/>
                <a:cs typeface="Calibri"/>
              </a:rPr>
              <a:t> </a:t>
            </a:r>
            <a:r>
              <a:rPr lang="en-US" sz="3200" spc="-10" dirty="0">
                <a:solidFill>
                  <a:srgbClr val="0D2041"/>
                </a:solidFill>
                <a:latin typeface="Calibri"/>
                <a:cs typeface="Calibri"/>
              </a:rPr>
              <a:t>offers</a:t>
            </a:r>
            <a:r>
              <a:rPr lang="en-US" sz="3200" spc="-15" dirty="0">
                <a:solidFill>
                  <a:srgbClr val="0D2041"/>
                </a:solidFill>
                <a:latin typeface="Calibri"/>
                <a:cs typeface="Calibri"/>
              </a:rPr>
              <a:t> </a:t>
            </a:r>
            <a:r>
              <a:rPr lang="en-US" sz="3200" dirty="0">
                <a:solidFill>
                  <a:srgbClr val="0D2041"/>
                </a:solidFill>
                <a:latin typeface="Calibri"/>
                <a:cs typeface="Calibri"/>
              </a:rPr>
              <a:t>sustainable</a:t>
            </a:r>
            <a:r>
              <a:rPr lang="en-US" sz="3200" spc="-45" dirty="0">
                <a:solidFill>
                  <a:srgbClr val="0D2041"/>
                </a:solidFill>
                <a:latin typeface="Calibri"/>
                <a:cs typeface="Calibri"/>
              </a:rPr>
              <a:t> </a:t>
            </a:r>
            <a:r>
              <a:rPr lang="en-US" sz="3200" spc="-10" dirty="0">
                <a:solidFill>
                  <a:srgbClr val="0D2041"/>
                </a:solidFill>
                <a:latin typeface="Calibri"/>
                <a:cs typeface="Calibri"/>
              </a:rPr>
              <a:t>solutions</a:t>
            </a:r>
            <a:r>
              <a:rPr lang="en-US" sz="3200" spc="500" dirty="0">
                <a:solidFill>
                  <a:srgbClr val="0D2041"/>
                </a:solidFill>
                <a:latin typeface="Calibri"/>
                <a:cs typeface="Calibri"/>
              </a:rPr>
              <a:t> </a:t>
            </a:r>
            <a:r>
              <a:rPr lang="en-US" sz="3200" dirty="0">
                <a:solidFill>
                  <a:srgbClr val="0D2041"/>
                </a:solidFill>
                <a:latin typeface="Calibri"/>
                <a:cs typeface="Calibri"/>
              </a:rPr>
              <a:t>for</a:t>
            </a:r>
            <a:r>
              <a:rPr lang="en-US" sz="3200" spc="-35" dirty="0">
                <a:solidFill>
                  <a:srgbClr val="0D2041"/>
                </a:solidFill>
                <a:latin typeface="Calibri"/>
                <a:cs typeface="Calibri"/>
              </a:rPr>
              <a:t> </a:t>
            </a:r>
            <a:r>
              <a:rPr lang="en-US" sz="3200" dirty="0">
                <a:solidFill>
                  <a:srgbClr val="0D2041"/>
                </a:solidFill>
                <a:latin typeface="Calibri"/>
                <a:cs typeface="Calibri"/>
              </a:rPr>
              <a:t>powering</a:t>
            </a:r>
            <a:r>
              <a:rPr lang="en-US" sz="3200" spc="-55" dirty="0">
                <a:solidFill>
                  <a:srgbClr val="0D2041"/>
                </a:solidFill>
                <a:latin typeface="Calibri"/>
                <a:cs typeface="Calibri"/>
              </a:rPr>
              <a:t> </a:t>
            </a:r>
            <a:r>
              <a:rPr lang="en-US" sz="3200" dirty="0">
                <a:solidFill>
                  <a:srgbClr val="0D2041"/>
                </a:solidFill>
                <a:latin typeface="Calibri"/>
                <a:cs typeface="Calibri"/>
              </a:rPr>
              <a:t>small</a:t>
            </a:r>
            <a:r>
              <a:rPr lang="en-US" sz="3200" spc="-50" dirty="0">
                <a:solidFill>
                  <a:srgbClr val="0D2041"/>
                </a:solidFill>
                <a:latin typeface="Calibri"/>
                <a:cs typeface="Calibri"/>
              </a:rPr>
              <a:t> </a:t>
            </a:r>
            <a:r>
              <a:rPr lang="en-US" sz="3200" dirty="0">
                <a:solidFill>
                  <a:srgbClr val="0D2041"/>
                </a:solidFill>
                <a:latin typeface="Calibri"/>
                <a:cs typeface="Calibri"/>
              </a:rPr>
              <a:t>devices</a:t>
            </a:r>
            <a:r>
              <a:rPr lang="en-US" sz="3200" spc="-30" dirty="0">
                <a:solidFill>
                  <a:srgbClr val="0D2041"/>
                </a:solidFill>
                <a:latin typeface="Calibri"/>
                <a:cs typeface="Calibri"/>
              </a:rPr>
              <a:t> </a:t>
            </a:r>
            <a:r>
              <a:rPr lang="en-US" sz="3200" dirty="0">
                <a:solidFill>
                  <a:srgbClr val="0D2041"/>
                </a:solidFill>
                <a:latin typeface="Calibri"/>
                <a:cs typeface="Calibri"/>
              </a:rPr>
              <a:t>and</a:t>
            </a:r>
            <a:r>
              <a:rPr lang="en-US" sz="3200" spc="-45" dirty="0">
                <a:solidFill>
                  <a:srgbClr val="0D2041"/>
                </a:solidFill>
                <a:latin typeface="Calibri"/>
                <a:cs typeface="Calibri"/>
              </a:rPr>
              <a:t> </a:t>
            </a:r>
            <a:r>
              <a:rPr lang="en-US" sz="3200" spc="-10" dirty="0">
                <a:solidFill>
                  <a:srgbClr val="0D2041"/>
                </a:solidFill>
                <a:latin typeface="Calibri"/>
                <a:cs typeface="Calibri"/>
              </a:rPr>
              <a:t>systems </a:t>
            </a:r>
            <a:r>
              <a:rPr lang="en-US" sz="3200" dirty="0">
                <a:solidFill>
                  <a:srgbClr val="0D2041"/>
                </a:solidFill>
                <a:latin typeface="Calibri"/>
                <a:cs typeface="Calibri"/>
              </a:rPr>
              <a:t>while</a:t>
            </a:r>
            <a:r>
              <a:rPr lang="en-US" sz="3200" spc="-20" dirty="0">
                <a:solidFill>
                  <a:srgbClr val="0D2041"/>
                </a:solidFill>
                <a:latin typeface="Calibri"/>
                <a:cs typeface="Calibri"/>
              </a:rPr>
              <a:t> </a:t>
            </a:r>
            <a:r>
              <a:rPr lang="en-US" sz="3200" dirty="0">
                <a:solidFill>
                  <a:srgbClr val="0D2041"/>
                </a:solidFill>
                <a:latin typeface="Calibri"/>
                <a:cs typeface="Calibri"/>
              </a:rPr>
              <a:t>promoting</a:t>
            </a:r>
            <a:r>
              <a:rPr lang="en-US" sz="3200" spc="-65" dirty="0">
                <a:solidFill>
                  <a:srgbClr val="0D2041"/>
                </a:solidFill>
                <a:latin typeface="Calibri"/>
                <a:cs typeface="Calibri"/>
              </a:rPr>
              <a:t> </a:t>
            </a:r>
            <a:r>
              <a:rPr lang="en-US" sz="3200" spc="-10" dirty="0">
                <a:solidFill>
                  <a:srgbClr val="0D2041"/>
                </a:solidFill>
                <a:latin typeface="Calibri"/>
                <a:cs typeface="Calibri"/>
              </a:rPr>
              <a:t>renewable</a:t>
            </a:r>
            <a:r>
              <a:rPr lang="en-US" sz="3200" spc="-15" dirty="0">
                <a:solidFill>
                  <a:srgbClr val="0D2041"/>
                </a:solidFill>
                <a:latin typeface="Calibri"/>
                <a:cs typeface="Calibri"/>
              </a:rPr>
              <a:t> </a:t>
            </a:r>
            <a:r>
              <a:rPr lang="en-US" sz="3200" spc="-20" dirty="0">
                <a:solidFill>
                  <a:srgbClr val="0D2041"/>
                </a:solidFill>
                <a:latin typeface="Calibri"/>
                <a:cs typeface="Calibri"/>
              </a:rPr>
              <a:t>energy.</a:t>
            </a:r>
            <a:r>
              <a:rPr lang="en-US" sz="3200" spc="-55" dirty="0">
                <a:solidFill>
                  <a:srgbClr val="0D2041"/>
                </a:solidFill>
                <a:latin typeface="Calibri"/>
                <a:cs typeface="Calibri"/>
              </a:rPr>
              <a:t> </a:t>
            </a:r>
            <a:r>
              <a:rPr lang="en-US" sz="3200" spc="-25" dirty="0">
                <a:solidFill>
                  <a:srgbClr val="0D2041"/>
                </a:solidFill>
                <a:latin typeface="Calibri"/>
                <a:cs typeface="Calibri"/>
              </a:rPr>
              <a:t>As </a:t>
            </a:r>
            <a:r>
              <a:rPr lang="en-US" sz="3200" spc="-10" dirty="0">
                <a:solidFill>
                  <a:srgbClr val="0D2041"/>
                </a:solidFill>
                <a:latin typeface="Calibri"/>
                <a:cs typeface="Calibri"/>
              </a:rPr>
              <a:t>technologies</a:t>
            </a:r>
            <a:r>
              <a:rPr lang="en-US" sz="3200" spc="-25" dirty="0">
                <a:solidFill>
                  <a:srgbClr val="0D2041"/>
                </a:solidFill>
                <a:latin typeface="Calibri"/>
                <a:cs typeface="Calibri"/>
              </a:rPr>
              <a:t> </a:t>
            </a:r>
            <a:r>
              <a:rPr lang="en-US" sz="3200" dirty="0">
                <a:solidFill>
                  <a:srgbClr val="0D2041"/>
                </a:solidFill>
                <a:latin typeface="Calibri"/>
                <a:cs typeface="Calibri"/>
              </a:rPr>
              <a:t>advance</a:t>
            </a:r>
            <a:r>
              <a:rPr lang="en-US" sz="3200" spc="-20" dirty="0">
                <a:solidFill>
                  <a:srgbClr val="0D2041"/>
                </a:solidFill>
                <a:latin typeface="Calibri"/>
                <a:cs typeface="Calibri"/>
              </a:rPr>
              <a:t> </a:t>
            </a:r>
            <a:r>
              <a:rPr lang="en-US" sz="3200" dirty="0">
                <a:solidFill>
                  <a:srgbClr val="0D2041"/>
                </a:solidFill>
                <a:latin typeface="Calibri"/>
                <a:cs typeface="Calibri"/>
              </a:rPr>
              <a:t>and</a:t>
            </a:r>
            <a:r>
              <a:rPr lang="en-US" sz="3200" spc="-5" dirty="0">
                <a:solidFill>
                  <a:srgbClr val="0D2041"/>
                </a:solidFill>
                <a:latin typeface="Calibri"/>
                <a:cs typeface="Calibri"/>
              </a:rPr>
              <a:t> </a:t>
            </a:r>
            <a:r>
              <a:rPr lang="en-US" sz="3200" spc="-10" dirty="0">
                <a:solidFill>
                  <a:srgbClr val="0D2041"/>
                </a:solidFill>
                <a:latin typeface="Calibri"/>
                <a:cs typeface="Calibri"/>
              </a:rPr>
              <a:t>awareness </a:t>
            </a:r>
            <a:r>
              <a:rPr lang="en-US" sz="3200" dirty="0">
                <a:solidFill>
                  <a:srgbClr val="0D2041"/>
                </a:solidFill>
                <a:latin typeface="Calibri"/>
                <a:cs typeface="Calibri"/>
              </a:rPr>
              <a:t>increases,</a:t>
            </a:r>
            <a:r>
              <a:rPr lang="en-US" sz="3200" spc="-20" dirty="0">
                <a:solidFill>
                  <a:srgbClr val="0D2041"/>
                </a:solidFill>
                <a:latin typeface="Calibri"/>
                <a:cs typeface="Calibri"/>
              </a:rPr>
              <a:t> </a:t>
            </a:r>
            <a:r>
              <a:rPr lang="en-US" sz="3200" dirty="0">
                <a:solidFill>
                  <a:srgbClr val="0D2041"/>
                </a:solidFill>
                <a:latin typeface="Calibri"/>
                <a:cs typeface="Calibri"/>
              </a:rPr>
              <a:t>the</a:t>
            </a:r>
            <a:r>
              <a:rPr lang="en-US" sz="3200" spc="-30" dirty="0">
                <a:solidFill>
                  <a:srgbClr val="0D2041"/>
                </a:solidFill>
                <a:latin typeface="Calibri"/>
                <a:cs typeface="Calibri"/>
              </a:rPr>
              <a:t> </a:t>
            </a:r>
            <a:r>
              <a:rPr lang="en-US" sz="3200" spc="-10" dirty="0">
                <a:solidFill>
                  <a:srgbClr val="0D2041"/>
                </a:solidFill>
                <a:latin typeface="Calibri"/>
                <a:cs typeface="Calibri"/>
              </a:rPr>
              <a:t>integration</a:t>
            </a:r>
            <a:r>
              <a:rPr lang="en-US" sz="3200" spc="-50" dirty="0">
                <a:solidFill>
                  <a:srgbClr val="0D2041"/>
                </a:solidFill>
                <a:latin typeface="Calibri"/>
                <a:cs typeface="Calibri"/>
              </a:rPr>
              <a:t> </a:t>
            </a:r>
            <a:r>
              <a:rPr lang="en-US" sz="3200" dirty="0">
                <a:solidFill>
                  <a:srgbClr val="0D2041"/>
                </a:solidFill>
                <a:latin typeface="Calibri"/>
                <a:cs typeface="Calibri"/>
              </a:rPr>
              <a:t>of</a:t>
            </a:r>
            <a:r>
              <a:rPr lang="en-US" sz="3200" spc="-20" dirty="0">
                <a:solidFill>
                  <a:srgbClr val="0D2041"/>
                </a:solidFill>
                <a:latin typeface="Calibri"/>
                <a:cs typeface="Calibri"/>
              </a:rPr>
              <a:t> </a:t>
            </a:r>
            <a:r>
              <a:rPr lang="en-US" sz="3200" spc="-10" dirty="0">
                <a:solidFill>
                  <a:srgbClr val="0D2041"/>
                </a:solidFill>
                <a:latin typeface="Calibri"/>
                <a:cs typeface="Calibri"/>
              </a:rPr>
              <a:t>footstep </a:t>
            </a:r>
            <a:r>
              <a:rPr lang="en-US" sz="3200" dirty="0">
                <a:solidFill>
                  <a:srgbClr val="0D2041"/>
                </a:solidFill>
                <a:latin typeface="Calibri"/>
                <a:cs typeface="Calibri"/>
              </a:rPr>
              <a:t>energy</a:t>
            </a:r>
            <a:r>
              <a:rPr lang="en-US" sz="3200" spc="-40" dirty="0">
                <a:solidFill>
                  <a:srgbClr val="0D2041"/>
                </a:solidFill>
                <a:latin typeface="Calibri"/>
                <a:cs typeface="Calibri"/>
              </a:rPr>
              <a:t> </a:t>
            </a:r>
            <a:r>
              <a:rPr lang="en-US" sz="3200" spc="-10" dirty="0">
                <a:solidFill>
                  <a:srgbClr val="0D2041"/>
                </a:solidFill>
                <a:latin typeface="Calibri"/>
                <a:cs typeface="Calibri"/>
              </a:rPr>
              <a:t>harvesting</a:t>
            </a:r>
            <a:r>
              <a:rPr lang="en-US" sz="3200" spc="-60" dirty="0">
                <a:solidFill>
                  <a:srgbClr val="0D2041"/>
                </a:solidFill>
                <a:latin typeface="Calibri"/>
                <a:cs typeface="Calibri"/>
              </a:rPr>
              <a:t> </a:t>
            </a:r>
            <a:r>
              <a:rPr lang="en-US" sz="3200" dirty="0">
                <a:solidFill>
                  <a:srgbClr val="0D2041"/>
                </a:solidFill>
                <a:latin typeface="Calibri"/>
                <a:cs typeface="Calibri"/>
              </a:rPr>
              <a:t>will</a:t>
            </a:r>
            <a:r>
              <a:rPr lang="en-US" sz="3200" spc="-15" dirty="0">
                <a:solidFill>
                  <a:srgbClr val="0D2041"/>
                </a:solidFill>
                <a:latin typeface="Calibri"/>
                <a:cs typeface="Calibri"/>
              </a:rPr>
              <a:t> </a:t>
            </a:r>
            <a:r>
              <a:rPr lang="en-US" sz="3200" dirty="0">
                <a:solidFill>
                  <a:srgbClr val="0D2041"/>
                </a:solidFill>
                <a:latin typeface="Calibri"/>
                <a:cs typeface="Calibri"/>
              </a:rPr>
              <a:t>likely</a:t>
            </a:r>
            <a:r>
              <a:rPr lang="en-US" sz="3200" spc="-25" dirty="0">
                <a:solidFill>
                  <a:srgbClr val="0D2041"/>
                </a:solidFill>
                <a:latin typeface="Calibri"/>
                <a:cs typeface="Calibri"/>
              </a:rPr>
              <a:t> </a:t>
            </a:r>
            <a:r>
              <a:rPr lang="en-US" sz="3200" spc="-10" dirty="0">
                <a:solidFill>
                  <a:srgbClr val="0D2041"/>
                </a:solidFill>
                <a:latin typeface="Calibri"/>
                <a:cs typeface="Calibri"/>
              </a:rPr>
              <a:t>expand, </a:t>
            </a:r>
            <a:r>
              <a:rPr lang="en-US" sz="3200" dirty="0">
                <a:solidFill>
                  <a:srgbClr val="0D2041"/>
                </a:solidFill>
                <a:latin typeface="Calibri"/>
                <a:cs typeface="Calibri"/>
              </a:rPr>
              <a:t>leading</a:t>
            </a:r>
            <a:r>
              <a:rPr lang="en-US" sz="3200" spc="-25" dirty="0">
                <a:solidFill>
                  <a:srgbClr val="0D2041"/>
                </a:solidFill>
                <a:latin typeface="Calibri"/>
                <a:cs typeface="Calibri"/>
              </a:rPr>
              <a:t> </a:t>
            </a:r>
            <a:r>
              <a:rPr lang="en-US" sz="3200" dirty="0">
                <a:solidFill>
                  <a:srgbClr val="0D2041"/>
                </a:solidFill>
                <a:latin typeface="Calibri"/>
                <a:cs typeface="Calibri"/>
              </a:rPr>
              <a:t>to</a:t>
            </a:r>
            <a:r>
              <a:rPr lang="en-US" sz="3200" spc="-15" dirty="0">
                <a:solidFill>
                  <a:srgbClr val="0D2041"/>
                </a:solidFill>
                <a:latin typeface="Calibri"/>
                <a:cs typeface="Calibri"/>
              </a:rPr>
              <a:t> </a:t>
            </a:r>
            <a:r>
              <a:rPr lang="en-US" sz="3200" dirty="0">
                <a:solidFill>
                  <a:srgbClr val="0D2041"/>
                </a:solidFill>
                <a:latin typeface="Calibri"/>
                <a:cs typeface="Calibri"/>
              </a:rPr>
              <a:t>more </a:t>
            </a:r>
            <a:r>
              <a:rPr lang="en-US" sz="3200" spc="-10" dirty="0">
                <a:solidFill>
                  <a:srgbClr val="0D2041"/>
                </a:solidFill>
                <a:latin typeface="Calibri"/>
                <a:cs typeface="Calibri"/>
              </a:rPr>
              <a:t>innovative applications</a:t>
            </a:r>
            <a:r>
              <a:rPr lang="en-US" sz="3200" spc="-40" dirty="0">
                <a:solidFill>
                  <a:srgbClr val="0D2041"/>
                </a:solidFill>
                <a:latin typeface="Calibri"/>
                <a:cs typeface="Calibri"/>
              </a:rPr>
              <a:t> </a:t>
            </a:r>
            <a:r>
              <a:rPr lang="en-US" sz="3200" spc="-25" dirty="0">
                <a:solidFill>
                  <a:srgbClr val="0D2041"/>
                </a:solidFill>
                <a:latin typeface="Calibri"/>
                <a:cs typeface="Calibri"/>
              </a:rPr>
              <a:t>in </a:t>
            </a:r>
            <a:r>
              <a:rPr lang="en-US" sz="3200" spc="-10" dirty="0">
                <a:solidFill>
                  <a:srgbClr val="0D2041"/>
                </a:solidFill>
                <a:latin typeface="Calibri"/>
                <a:cs typeface="Calibri"/>
              </a:rPr>
              <a:t>everyday</a:t>
            </a:r>
            <a:r>
              <a:rPr lang="en-US" sz="3200" spc="-15" dirty="0">
                <a:solidFill>
                  <a:srgbClr val="0D2041"/>
                </a:solidFill>
                <a:latin typeface="Calibri"/>
                <a:cs typeface="Calibri"/>
              </a:rPr>
              <a:t> </a:t>
            </a:r>
            <a:r>
              <a:rPr lang="en-US" sz="3200" spc="-10" dirty="0">
                <a:solidFill>
                  <a:srgbClr val="0D2041"/>
                </a:solidFill>
                <a:latin typeface="Calibri"/>
                <a:cs typeface="Calibri"/>
              </a:rPr>
              <a:t>life.</a:t>
            </a:r>
            <a:endParaRPr lang="en-US" sz="3200" dirty="0">
              <a:latin typeface="Calibri"/>
              <a:cs typeface="Calibri"/>
            </a:endParaRPr>
          </a:p>
        </p:txBody>
      </p:sp>
      <p:pic>
        <p:nvPicPr>
          <p:cNvPr id="3" name="object 4">
            <a:extLst>
              <a:ext uri="{FF2B5EF4-FFF2-40B4-BE49-F238E27FC236}">
                <a16:creationId xmlns:a16="http://schemas.microsoft.com/office/drawing/2014/main" id="{EA30DBA6-649E-65BD-551A-B0EB23F9EDDB}"/>
              </a:ext>
            </a:extLst>
          </p:cNvPr>
          <p:cNvPicPr/>
          <p:nvPr/>
        </p:nvPicPr>
        <p:blipFill>
          <a:blip r:embed="rId3" cstate="print"/>
          <a:stretch>
            <a:fillRect/>
          </a:stretch>
        </p:blipFill>
        <p:spPr>
          <a:xfrm>
            <a:off x="7892717" y="1859379"/>
            <a:ext cx="3834062" cy="4541421"/>
          </a:xfrm>
          <a:prstGeom prst="rect">
            <a:avLst/>
          </a:prstGeom>
        </p:spPr>
      </p:pic>
    </p:spTree>
    <p:extLst>
      <p:ext uri="{BB962C8B-B14F-4D97-AF65-F5344CB8AC3E}">
        <p14:creationId xmlns:p14="http://schemas.microsoft.com/office/powerpoint/2010/main" val="1686213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sz="5400"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{E7569848-2B35-404E-BA9D-83D650881E5E}tf78438558_win32</Template>
  <TotalTime>217</TotalTime>
  <Words>701</Words>
  <Application>Microsoft Office PowerPoint</Application>
  <PresentationFormat>Widescreen</PresentationFormat>
  <Paragraphs>100</Paragraphs>
  <Slides>15</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__Inter_d65c78</vt:lpstr>
      <vt:lpstr>Arial</vt:lpstr>
      <vt:lpstr>Arial Black</vt:lpstr>
      <vt:lpstr>Arial MT</vt:lpstr>
      <vt:lpstr>Calibri</vt:lpstr>
      <vt:lpstr>Figtree</vt:lpstr>
      <vt:lpstr>Sabon Next LT</vt:lpstr>
      <vt:lpstr>Wingdings</vt:lpstr>
      <vt:lpstr>Custom</vt:lpstr>
      <vt:lpstr>Elec-Go  Elec-go means wherever you go electricity is generated</vt:lpstr>
      <vt:lpstr>PowerPoint Presentation</vt:lpstr>
      <vt:lpstr>Overview</vt:lpstr>
      <vt:lpstr>Definition of Energy Harvesting</vt:lpstr>
      <vt:lpstr>Importance of Footstep Energy </vt:lpstr>
      <vt:lpstr>BACK TO OUR PROJECT  </vt:lpstr>
      <vt:lpstr>PowerPoint Presentation</vt:lpstr>
      <vt:lpstr>PIEZOELECTRIC SENSEORS </vt:lpstr>
      <vt:lpstr>Applications of Piezoelectric Sensors </vt:lpstr>
      <vt:lpstr>Over view of 1N4007 Diode</vt:lpstr>
      <vt:lpstr>Over view of Lithium-Ion battery </vt:lpstr>
      <vt:lpstr>Circuit</vt:lpstr>
      <vt:lpstr>Advantages &amp; Disadvantages of Piezoelectric Sensors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Mah jabeen</dc:creator>
  <cp:lastModifiedBy>Mohammed Ghouse</cp:lastModifiedBy>
  <cp:revision>6</cp:revision>
  <dcterms:created xsi:type="dcterms:W3CDTF">2025-02-18T19:26:48Z</dcterms:created>
  <dcterms:modified xsi:type="dcterms:W3CDTF">2025-02-20T19:11:34Z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